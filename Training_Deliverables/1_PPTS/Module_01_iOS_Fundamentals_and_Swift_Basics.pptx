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371600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Arial"/>
              </a:rPr>
              <a:t>MODULE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4577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>
                <a:solidFill>
                  <a:srgbClr val="F3F3F5"/>
                </a:solidFill>
                <a:latin typeface="Arial"/>
              </a:rPr>
              <a:t>iOS Fundamentals and Swift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A6A8B0"/>
                </a:solidFill>
                <a:latin typeface="Arial"/>
              </a:rPr>
              <a:t>The language, the tools, and connecting screen to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EVERY APP, THE SAME 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What every iOS app comes down to</a:t>
            </a:r>
          </a:p>
        </p:txBody>
      </p:sp>
      <p:sp>
        <p:nvSpPr>
          <p:cNvPr id="6" name="Rectangle 5"/>
          <p:cNvSpPr/>
          <p:nvPr/>
        </p:nvSpPr>
        <p:spPr>
          <a:xfrm>
            <a:off x="9459088" y="1485899"/>
            <a:ext cx="1950795" cy="413308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72804" y="1499615"/>
            <a:ext cx="1923363" cy="410565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showings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236" y="1527047"/>
            <a:ext cx="1868499" cy="405079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" y="241858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2290571"/>
            <a:ext cx="790918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A language.</a:t>
            </a:r>
            <a:r>
              <a:rPr sz="1700">
                <a:solidFill>
                  <a:srgbClr val="F3F3F5"/>
                </a:solidFill>
                <a:latin typeface="Arial"/>
              </a:rPr>
              <a:t> Swift — one language across every Apple 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259835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3131819"/>
            <a:ext cx="790918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A set of tools.</a:t>
            </a:r>
            <a:r>
              <a:rPr sz="1700">
                <a:solidFill>
                  <a:srgbClr val="F3F3F5"/>
                </a:solidFill>
                <a:latin typeface="Arial"/>
              </a:rPr>
              <a:t> Xcode — editor, interface builder, simulator, debugger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010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3973068"/>
            <a:ext cx="790918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A way of connecting.</a:t>
            </a:r>
            <a:r>
              <a:rPr sz="1700">
                <a:solidFill>
                  <a:srgbClr val="F3F3F5"/>
                </a:solidFill>
                <a:latin typeface="Arial"/>
              </a:rPr>
              <a:t> Outlets and actions, tying screen to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BY THE END OF THIS VIDEO YOU WILL BE ABLE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934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481328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Explain what iOS development is, and why this course uses UIKit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37790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309774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Create a project and set its bundle identifier deliberately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66236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138220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Declare values with var and let — and reach for let first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946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966667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Read and safely unwrap an optional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2312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795113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Connect a control to code with an outlet and an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APPLE'S PLATFORMS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What you build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93491"/>
            <a:ext cx="2430703" cy="129844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793491"/>
            <a:ext cx="2430703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3031235"/>
            <a:ext cx="206494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3F3F5"/>
                </a:solidFill>
                <a:latin typeface="Menlo"/>
              </a:rPr>
              <a:t>iPhone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470148"/>
            <a:ext cx="20649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6A8B0"/>
                </a:solidFill>
                <a:latin typeface="Arial"/>
              </a:rPr>
              <a:t>iOS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7983" y="2793491"/>
            <a:ext cx="2430703" cy="129844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7983" y="2793491"/>
            <a:ext cx="2430703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7439" y="3031235"/>
            <a:ext cx="206494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3F3F5"/>
                </a:solidFill>
                <a:latin typeface="Menlo"/>
              </a:rPr>
              <a:t>iPad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7439" y="3470148"/>
            <a:ext cx="20649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6A8B0"/>
                </a:solidFill>
                <a:latin typeface="Arial"/>
              </a:rPr>
              <a:t>iPadOS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2793491"/>
            <a:ext cx="2430703" cy="129844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2793491"/>
            <a:ext cx="2430703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2463" y="3031235"/>
            <a:ext cx="206494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3F3F5"/>
                </a:solidFill>
                <a:latin typeface="Menlo"/>
              </a:rPr>
              <a:t>Apple Watch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2463" y="3470148"/>
            <a:ext cx="20649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6A8B0"/>
                </a:solidFill>
                <a:latin typeface="Arial"/>
              </a:rPr>
              <a:t>watchOS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38031" y="2793491"/>
            <a:ext cx="2430703" cy="129844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38031" y="2793491"/>
            <a:ext cx="2430703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7487" y="3031235"/>
            <a:ext cx="206494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3F3F5"/>
                </a:solidFill>
                <a:latin typeface="Menlo"/>
              </a:rPr>
              <a:t>Apple TV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7487" y="3470148"/>
            <a:ext cx="20649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6A8B0"/>
                </a:solidFill>
                <a:latin typeface="Arial"/>
              </a:rPr>
              <a:t>tvOS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HOW THE LANGUAGE GOT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A little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82596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482596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02052"/>
            <a:ext cx="1283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before 2014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4808" y="2702052"/>
            <a:ext cx="8439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Objective-C — still in older codebases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95828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195828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15284"/>
            <a:ext cx="1283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2 June 2014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4808" y="3415284"/>
            <a:ext cx="8439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Swift announced — the language this course uses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909060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909060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28515"/>
            <a:ext cx="1283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2019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4808" y="4128515"/>
            <a:ext cx="8439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SwiftUI — a declarative way to build interfaces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WHY UIKIT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UIKit, not SwiftUI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80259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80259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18003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UIKit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6664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The overwhelming majority of existing production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34739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You lay things out by hand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0439" y="2080259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0439" y="2080259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759" y="2318003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SwiftUI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759" y="286664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Newer, declarative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250691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A great deal is done for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405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You'll understand what's being done for you — because you'll have done it yourself.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WHAT YOU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Xcode is the whole toolkit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93491"/>
            <a:ext cx="2430703" cy="129844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793491"/>
            <a:ext cx="2430703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3031235"/>
            <a:ext cx="206494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3F3F5"/>
                </a:solidFill>
                <a:latin typeface="Menlo"/>
              </a:rPr>
              <a:t>editor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7983" y="2793491"/>
            <a:ext cx="2430703" cy="129844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7983" y="2793491"/>
            <a:ext cx="2430703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7439" y="3031235"/>
            <a:ext cx="206494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3F3F5"/>
                </a:solidFill>
                <a:latin typeface="Menlo"/>
              </a:rPr>
              <a:t>interface builder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793491"/>
            <a:ext cx="2430703" cy="129844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2793491"/>
            <a:ext cx="2430703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2463" y="3031235"/>
            <a:ext cx="206494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3F3F5"/>
                </a:solidFill>
                <a:latin typeface="Menlo"/>
              </a:rPr>
              <a:t>simulator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38031" y="2793491"/>
            <a:ext cx="2430703" cy="129844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38031" y="2793491"/>
            <a:ext cx="2430703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7487" y="3031235"/>
            <a:ext cx="206494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3F3F5"/>
                </a:solidFill>
                <a:latin typeface="Menlo"/>
              </a:rPr>
              <a:t>debugger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NEW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The template asks for several things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69363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69363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88819"/>
            <a:ext cx="19232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Product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4887" y="1988819"/>
            <a:ext cx="7799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CineSeat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482595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482595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702051"/>
            <a:ext cx="19232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Bundle Identifier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4887" y="2702051"/>
            <a:ext cx="7799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← don't rush this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195827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195827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415283"/>
            <a:ext cx="19232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4887" y="3415283"/>
            <a:ext cx="7799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← or this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909059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909059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128515"/>
            <a:ext cx="19232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4887" y="4128515"/>
            <a:ext cx="7799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Swift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622292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622292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841747"/>
            <a:ext cx="19232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4887" y="4841747"/>
            <a:ext cx="7799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1 — THE BUNDLE IDENTIFIER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Your app's unique identity on the App 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24327"/>
            <a:ext cx="10545775" cy="1399032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24327"/>
            <a:ext cx="45720" cy="1399032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788919"/>
            <a:ext cx="10088575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SevenSeven.CineSeat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// your organisation, reversed  ·  your app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// no two apps can share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42816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Transferable only by agreement between accounts — never simply claimed.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2 —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Choose Storyboard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5C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5CC08A"/>
                </a:solidFill>
                <a:latin typeface="Arial"/>
              </a:rPr>
              <a:t>Storyboard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this is what selects UIKit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SwiftUI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759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not this course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WHAT XCODE GENERATES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Don't delete any of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25979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25979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45435"/>
            <a:ext cx="2243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AppDelegate.swift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4928" y="2345435"/>
            <a:ext cx="74794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the first thing that runs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39211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839211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58668"/>
            <a:ext cx="2243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SceneDelegate.swift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4928" y="3058668"/>
            <a:ext cx="74794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window / scene lifecycle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552444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552444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71899"/>
            <a:ext cx="2243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Main.storyboard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4928" y="3771899"/>
            <a:ext cx="74794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your screens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265676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265676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485131"/>
            <a:ext cx="2243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ViewController.swift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4928" y="4485131"/>
            <a:ext cx="74794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the code behind the first screen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DECLARING A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var and let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var — a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var score = 10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score = 25   // 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81044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it can 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5C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5CC08A"/>
                </a:solidFill>
                <a:latin typeface="Arial"/>
              </a:rPr>
              <a:t>let — a constant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759" y="3150107"/>
            <a:ext cx="465109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let age = 25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age = 30     //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781044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once it's set, that's 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THE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Reach for let by default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58058"/>
            <a:ext cx="10545775" cy="113157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758058"/>
            <a:ext cx="45720" cy="113157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922650"/>
            <a:ext cx="10088575" cy="11315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let age = 25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age = 30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// error: cannot assign to value — 'age' is a 'let' constant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09084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A constant is a promise that this thing will not move.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THE CORE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What you'll use constantly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34539"/>
            <a:ext cx="2430703" cy="129844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34539"/>
            <a:ext cx="2430703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272283"/>
            <a:ext cx="206494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3F3F5"/>
                </a:solidFill>
                <a:latin typeface="Menlo"/>
              </a:rPr>
              <a:t>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711196"/>
            <a:ext cx="20649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6A8B0"/>
                </a:solidFill>
                <a:latin typeface="Arial"/>
              </a:rPr>
              <a:t>whole numbers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7983" y="2034539"/>
            <a:ext cx="2430703" cy="129844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7983" y="2034539"/>
            <a:ext cx="2430703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7439" y="2272283"/>
            <a:ext cx="206494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3F3F5"/>
                </a:solidFill>
                <a:latin typeface="Menlo"/>
              </a:rPr>
              <a:t>Double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7439" y="2711196"/>
            <a:ext cx="20649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6A8B0"/>
                </a:solidFill>
                <a:latin typeface="Arial"/>
              </a:rPr>
              <a:t>decimals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2034539"/>
            <a:ext cx="2430703" cy="129844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2034539"/>
            <a:ext cx="2430703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2463" y="2272283"/>
            <a:ext cx="206494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3F3F5"/>
                </a:solidFill>
                <a:latin typeface="Menlo"/>
              </a:rPr>
              <a:t>String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2463" y="2711196"/>
            <a:ext cx="20649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6A8B0"/>
                </a:solidFill>
                <a:latin typeface="Arial"/>
              </a:rPr>
              <a:t>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38031" y="2034539"/>
            <a:ext cx="2430703" cy="129844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38031" y="2034539"/>
            <a:ext cx="2430703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7487" y="2272283"/>
            <a:ext cx="206494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3F3F5"/>
                </a:solidFill>
                <a:latin typeface="Menlo"/>
              </a:rPr>
              <a:t>Bool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7487" y="2711196"/>
            <a:ext cx="20649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6A8B0"/>
                </a:solidFill>
                <a:latin typeface="Arial"/>
              </a:rPr>
              <a:t>true / false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552444"/>
            <a:ext cx="2430703" cy="129844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552444"/>
            <a:ext cx="2430703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3790187"/>
            <a:ext cx="206494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3F3F5"/>
                </a:solidFill>
                <a:latin typeface="Menlo"/>
              </a:rPr>
              <a:t>Array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" y="4229100"/>
            <a:ext cx="20649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6A8B0"/>
                </a:solidFill>
                <a:latin typeface="Arial"/>
              </a:rPr>
              <a:t>ordered, by index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7983" y="3552444"/>
            <a:ext cx="2430703" cy="129844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27983" y="3552444"/>
            <a:ext cx="2430703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7439" y="3790187"/>
            <a:ext cx="206494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3F3F5"/>
                </a:solidFill>
                <a:latin typeface="Menlo"/>
              </a:rPr>
              <a:t>Dictionary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7439" y="4229100"/>
            <a:ext cx="20649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6A8B0"/>
                </a:solidFill>
                <a:latin typeface="Arial"/>
              </a:rPr>
              <a:t>key / value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CONTROL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Conventional, with one difference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23134"/>
            <a:ext cx="10545775" cy="220141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23134"/>
            <a:ext cx="45720" cy="220141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87726"/>
            <a:ext cx="10088575" cy="2201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if score &gt; 20 {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    print("high")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} else {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    print("low")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}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for movie in movies { ...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44008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Swift doesn't need parentheses around the condition.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func, a name, parameters, a return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5C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5CC08A"/>
                </a:solidFill>
                <a:latin typeface="Arial"/>
              </a:rPr>
              <a:t>Idiomatic Swift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func bookSeat(row: Int) -&gt; Booking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isNowPlaying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posterURLString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05071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camelCase — first word lowercase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12D39"/>
                </a:solidFill>
                <a:latin typeface="Arial"/>
              </a:rPr>
              <a:t>Not Swift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759" y="3150107"/>
            <a:ext cx="465109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func book_seat(row: Int)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is_now_playing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781044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snake_case with underscores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Optionals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The single most important idea in this module.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FROM THE REAL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Three properties can be empty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78507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6A8B0"/>
                </a:solidFill>
                <a:latin typeface="Menlo"/>
              </a:rPr>
              <a:t>CineSeat/Models/Movies/Movie.swift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089403"/>
            <a:ext cx="10545775" cy="246888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089403"/>
            <a:ext cx="45720" cy="246888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253995"/>
            <a:ext cx="10088575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struct Movie: Codable, Equatable {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    let title: String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    let tmdbID: Int?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    let genre: String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    let rating: Double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    let posterURLString: String?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    let localPosterName: String?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7774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A ? means: this might hold a value, or it might be empty.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WHY OPTIONALS EXIST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Most crashes come from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39696"/>
            <a:ext cx="5108295" cy="282549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39696"/>
            <a:ext cx="45720" cy="2825496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39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12D39"/>
                </a:solidFill>
                <a:latin typeface="Arial"/>
              </a:rPr>
              <a:t>Without optionals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79"/>
            <a:ext cx="465109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poster = json["poster"]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imageView.load(poster)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5701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the field isn't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4106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nothing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25112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the app dies in someone's hand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0439" y="2139696"/>
            <a:ext cx="5108295" cy="282549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0439" y="2139696"/>
            <a:ext cx="45720" cy="2825496"/>
          </a:xfrm>
          <a:prstGeom prst="rect">
            <a:avLst/>
          </a:prstGeom>
          <a:solidFill>
            <a:srgbClr val="5C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4759" y="2377439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5CC08A"/>
                </a:solidFill>
                <a:latin typeface="Arial"/>
              </a:rPr>
              <a:t>With optionals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759" y="2926079"/>
            <a:ext cx="465109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let poster: String? = json["poster"]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if let poster { load(poster)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759" y="355701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the compiler makes you handle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4759" y="394106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caught at write time, not in production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OPENING AN OPTIONAL SAFELY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Three 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23134"/>
            <a:ext cx="10545775" cy="220141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23134"/>
            <a:ext cx="45720" cy="220141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87726"/>
            <a:ext cx="10088575" cy="2201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if let poster = movie.posterURLString {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    imageView.load(poster)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}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let name = movie.localPosterName ?? "placeholder"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guard let id = movie.tmdbID else { return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44008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if let · ?? supplies a fallback · guard exits early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AND THE ONE TO USE SPARINGLY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Force-unwrap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80259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80259"/>
            <a:ext cx="45720" cy="2377440"/>
          </a:xfrm>
          <a:prstGeom prst="rect">
            <a:avLst/>
          </a:prstGeom>
          <a:solidFill>
            <a:srgbClr val="5C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18003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5CC08A"/>
                </a:solidFill>
                <a:latin typeface="Arial"/>
              </a:rPr>
              <a:t>You were 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6664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nothing happens — this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0439" y="2080259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0439" y="2080259"/>
            <a:ext cx="45720" cy="2377440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4759" y="2318003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12D39"/>
                </a:solidFill>
                <a:latin typeface="Arial"/>
              </a:rPr>
              <a:t>You were wrong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759" y="286664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the app crashes, in someone's hand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405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Every force-unwrap is a small bet that you're right.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TWO MORE LANGUAGE PIECES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struct and class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struct — a value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it gets copied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two independent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1820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use for data and models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class — a reference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it gets shared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759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one object, two names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759" y="391820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use for behaviour and services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 PROTOCOL IS A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What a type must do, not how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24327"/>
            <a:ext cx="10545775" cy="1399032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24327"/>
            <a:ext cx="45720" cy="1399032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788919"/>
            <a:ext cx="10088575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protocol BookingStore {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    func save(_ booking: Booking)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    func load() -&gt; [Booking]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42816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In Module 6 this becomes the backbone of the whole architecture.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How does a button on screen run your code?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The last topic, and the practical one.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TWO SEPARATE CONNECTIONS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You usually need both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Outlet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@IBOutlet weak var confirmButton: UIButton!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5701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the control as an object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4106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enable it, restyle it, read its 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150107"/>
            <a:ext cx="4651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@IBAction func confirmTapped(_ sender: UIButton)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759" y="355701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the behaviour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759" y="394106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code runs when it's tapped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ALL OF IT, DOING REAL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Every row in this list is one Movie struct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9480177" y="1440180"/>
            <a:ext cx="1929705" cy="408736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93893" y="1453895"/>
            <a:ext cx="1902273" cy="405993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movie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325" y="1481328"/>
            <a:ext cx="1847409" cy="400507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" y="1673352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572768"/>
            <a:ext cx="80399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The optional properties are the poster and the online-database 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478024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377440"/>
            <a:ext cx="80399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Not every film has either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880360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779776"/>
            <a:ext cx="80399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The list scrolls, nothing crashes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82696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182112"/>
            <a:ext cx="80399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No value is forced open anywhere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RECAP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iOS Fundamentals and Swift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934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481328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iOS development means Swift and Xcode — this course uses UIKit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37790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309774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The bundle identifier is a permanent, unique identity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66236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138220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let by default; var only when the value must change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946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966667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An optional says a value might be missing — unwrap it safely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2312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795113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Outlets connect the object; actions connect the behaviour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PRACTICE EXERCISE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Model something you actually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4368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4368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485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22656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Write a struct for it — at least six properties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04952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04952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506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23240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Make two of them optional, and be able to say why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5536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05536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5653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23824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Print a summary using if let and ?? — no force-unwraps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Module 2 — UIKit, MVVM, Auto Layout and Table 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Layout, navigation, table views, and the pattern that keeps code from becoming a mess.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