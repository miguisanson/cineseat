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371600" cy="4572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Arial"/>
              </a:rPr>
              <a:t>MODULE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4577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3F3F5"/>
                </a:solidFill>
                <a:latin typeface="Arial"/>
              </a:rPr>
              <a:t>Intermediate Swift and Concurrency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A6A8B0"/>
                </a:solidFill>
                <a:latin typeface="Arial"/>
              </a:rPr>
              <a:t>Closures, collections, concurrency — and planning an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The shortest module, and the most conceptually demanding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language features that separate code that works from code that holds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BY THE END OF THIS VIDEO YOU WILL BE ABLE TO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Pass behaviour around with closures, and know escaping from non-escaping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Use map, filter and reduce for what each actually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Explain ARC, weak references and retain cycles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Keep long work off the main thread with async and await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Plan an app before writing it, in four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A block of code you can pass around like a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58058"/>
            <a:ext cx="10545775" cy="113157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58058"/>
            <a:ext cx="45720" cy="113157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922650"/>
            <a:ext cx="10088575" cy="11315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let sorted = movies.sorted { first, second in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first.rating &gt; second.rating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09084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If you wrote a computed property last module, you have already written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DISTINCTION WORTH KNOWING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Escaping or non-escaping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Non-escaping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Runs and finishes inside the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@escaping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Outlives the function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Stored, or run later — network callbacks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Do slow work synchronously and the interface freezes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user thinks your app has hung. Escaping, asynchronous work is how you avoid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Three operations you will reach for constantly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These get confused, so be precise about what each one does.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Transforms — same length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91789"/>
            <a:ext cx="10545775" cy="86410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91789"/>
            <a:ext cx="45720" cy="86410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056382"/>
            <a:ext cx="10088575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let titles = movies.map { $0.title 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// [Movie]  -&gt;  [String], one for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5354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It transforms. It does not 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Selects — shorter collection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91789"/>
            <a:ext cx="10545775" cy="86410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91789"/>
            <a:ext cx="45720" cy="86410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056382"/>
            <a:ext cx="10088575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let showing = movies.filter { $0.isNowPlaying 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// keeps only the elements matching the 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5354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It selects.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REDUCE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Collapses — one value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91789"/>
            <a:ext cx="10545775" cy="864108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91789"/>
            <a:ext cx="45720" cy="86410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056382"/>
            <a:ext cx="10088575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let total = seats.reduce(0) { sum, seat in sum + seat.price 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// folds a whole collection down to a single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5354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It collapses.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AND IF YOU WANT TO FIND SOMETHING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first(where:) is the fourth operation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25521"/>
            <a:ext cx="10545775" cy="59664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025521"/>
            <a:ext cx="45720" cy="59664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3190113"/>
            <a:ext cx="10088575" cy="5966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let match = movies.first(where: { $0.tmdbID == id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1623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Mixing up map and search is a common source of slow, wrong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DOING REAL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Two operations, chained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58058"/>
            <a:ext cx="10545775" cy="113157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58058"/>
            <a:ext cx="45720" cy="113157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922650"/>
            <a:ext cx="10088575" cy="11315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movies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.filter { $0.title.localizedCaseInsensitiveContains(searchText) 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.sorted { $0.rating &gt; $1.rating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09084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Replacing what would have been a nested loop.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Automatic Reference Counting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1858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2290571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ARC counts</a:t>
            </a:r>
            <a:r>
              <a:rPr sz="1700">
                <a:solidFill>
                  <a:srgbClr val="F3F3F5"/>
                </a:solidFill>
                <a:latin typeface="Arial"/>
              </a:rPr>
              <a:t> how many things are holding an object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59835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131819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When nothing holds it</a:t>
            </a:r>
            <a:r>
              <a:rPr sz="1700">
                <a:solidFill>
                  <a:srgbClr val="F3F3F5"/>
                </a:solidFill>
                <a:latin typeface="Arial"/>
              </a:rPr>
              <a:t>, the object is freed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010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973068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You do not free memory by hand</a:t>
            </a:r>
            <a:r>
              <a:rPr sz="1700">
                <a:solidFill>
                  <a:srgbClr val="F3F3F5"/>
                </a:solidFill>
                <a:latin typeface="Arial"/>
              </a:rPr>
              <a:t> — but you do decide who holds what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THREE KINDS OF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Who keeps an object alive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82596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82596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0205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strong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702052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Keeps the object alive — the default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95828"/>
            <a:ext cx="10545775" cy="676656"/>
          </a:xfrm>
          <a:prstGeom prst="rect">
            <a:avLst/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95828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1528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weak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415284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Does not keep it alive; set to nil automatically when it goes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09060"/>
            <a:ext cx="10545775" cy="67665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09060"/>
            <a:ext cx="45720" cy="67665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128515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0C05C"/>
                </a:solidFill>
                <a:latin typeface="Menlo"/>
              </a:rPr>
              <a:t>unowned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128515"/>
            <a:ext cx="8808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3F3F5"/>
                </a:solidFill>
                <a:latin typeface="Arial"/>
              </a:rPr>
              <a:t>Like weak, but assumes it is still there — crashes if wrong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A retain cycle is two objects each holding the other strongly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Neither can ever be freed. That is a leak.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ONE HABIT PREVENTS MOST OF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weak self by default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24327"/>
            <a:ext cx="10545775" cy="1399032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24327"/>
            <a:ext cx="45720" cy="1399032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788919"/>
            <a:ext cx="10088575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fetchMovies { [weak self] result in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guard let self else { return }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    self.reload(result)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42816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Arial"/>
              </a:rPr>
              <a:t>It costs nothing when unnecessary, and saves you when it matters.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Background threads do the waiting. The main thread does the drawing.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There is one rule in concurrency, and everything follows from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WHERE WORK BELONGS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Off the main thread, back for the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363723"/>
            <a:ext cx="45720" cy="2377440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Background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Fetching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Downloading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820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Decoding 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0439" y="2363723"/>
            <a:ext cx="5108295" cy="2377440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0439" y="2363723"/>
            <a:ext cx="45720" cy="2377440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2601468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Main thread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150107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Every single UI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3534155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Without exception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TWO GENERATIONS OF THE SAME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GCD and async / await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7691"/>
            <a:ext cx="5108295" cy="2889504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7691"/>
            <a:ext cx="45720" cy="2889504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45435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0C05C"/>
                </a:solidFill>
                <a:latin typeface="Arial"/>
              </a:rPr>
              <a:t>Grand Central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94075"/>
            <a:ext cx="4651095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DispatchQueue.global().async {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// work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    DispatchQueue.main.async { ... }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3068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The older way — you will meet it in existing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0439" y="2107691"/>
            <a:ext cx="5108295" cy="2889504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0439" y="2107691"/>
            <a:ext cx="45720" cy="2889504"/>
          </a:xfrm>
          <a:prstGeom prst="rect">
            <a:avLst/>
          </a:prstGeom>
          <a:solidFill>
            <a:srgbClr val="5C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759" y="2345435"/>
            <a:ext cx="4651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CC08A"/>
                </a:solidFill>
                <a:latin typeface="Arial"/>
              </a:rPr>
              <a:t>async / await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759" y="2894075"/>
            <a:ext cx="46510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3F3F5"/>
                </a:solidFill>
                <a:latin typeface="Menlo"/>
              </a:rPr>
              <a:t>let movies = try await api.fetchMovies()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3300983"/>
            <a:ext cx="4651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6A8B0"/>
                </a:solidFill>
                <a:latin typeface="Arial"/>
              </a:rPr>
              <a:t>await means: pause here, let others run, resume when ready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Before you build anything real, you plan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part of this module that is not code.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A FOUR-STEP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Worth adopting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4076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4076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419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2364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Requirements — list every feature, unfiltered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4660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54660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4777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729484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Flowchart — turn those into paths and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552444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552444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5361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735324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Wireframe — sketch what each screen holds, not how it looks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55828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55828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75945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741164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Then build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THE FLOWCHART FOR THE REFERENCE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What is interesting is not the happy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9796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869947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Not signed in.</a:t>
            </a:r>
            <a:r>
              <a:rPr sz="1700">
                <a:solidFill>
                  <a:srgbClr val="F3F3F5"/>
                </a:solidFill>
                <a:latin typeface="Arial"/>
              </a:rPr>
              <a:t> Route to account creation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39211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711195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No seat selected.</a:t>
            </a:r>
            <a:r>
              <a:rPr sz="1700">
                <a:solidFill>
                  <a:srgbClr val="F3F3F5"/>
                </a:solidFill>
                <a:latin typeface="Arial"/>
              </a:rPr>
              <a:t> Route to a validation alert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8045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552443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Cancelled.</a:t>
            </a:r>
            <a:r>
              <a:rPr sz="1700">
                <a:solidFill>
                  <a:srgbClr val="F3F3F5"/>
                </a:solidFill>
                <a:latin typeface="Arial"/>
              </a:rPr>
              <a:t> Release the seats, cancel the pending reminder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1707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4393692"/>
            <a:ext cx="10234879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 b="1">
                <a:solidFill>
                  <a:srgbClr val="F0C05C"/>
                </a:solidFill>
                <a:latin typeface="Arial"/>
              </a:rPr>
              <a:t>Most of real app design</a:t>
            </a:r>
            <a:r>
              <a:rPr sz="1700">
                <a:solidFill>
                  <a:srgbClr val="F3F3F5"/>
                </a:solidFill>
                <a:latin typeface="Arial"/>
              </a:rPr>
              <a:t> is the handling of things going wrong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When your app gets tested, every path gets walked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Including the awkward ones. If you already mapped them, testing confirms rather than discovers.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Intermediate Swift and Concurrency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0934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1481328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Closures pass behaviour around; escaping ones outlive the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37790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309774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map transforms, filter selects, reduce collapses, first(where:) finds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66236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3138220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ARC frees what nothing holds — weak self breaks retain cycles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94683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966667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Background threads wait; the main thread draws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23129"/>
            <a:ext cx="109728" cy="10972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4795113"/>
            <a:ext cx="10234879" cy="8284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700">
                <a:solidFill>
                  <a:srgbClr val="F3F3F5"/>
                </a:solidFill>
                <a:latin typeface="Arial"/>
              </a:rPr>
              <a:t>Plan in four steps before you write code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87552" y="384048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0C05C"/>
                </a:solidFill>
                <a:latin typeface="Arial"/>
              </a:rPr>
              <a:t>PRACTICE EXERCISE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694944"/>
            <a:ext cx="50292" cy="384048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658368"/>
            <a:ext cx="1036289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F3F3F5"/>
                </a:solidFill>
                <a:latin typeface="Arial"/>
              </a:rPr>
              <a:t>Plan, then transform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4368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4368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485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2656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Write requirements and a flowchart for an app you want to build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4952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04952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506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3240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Include at least three failure branches, not just the happy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55363"/>
            <a:ext cx="10545775" cy="859536"/>
          </a:xfrm>
          <a:prstGeom prst="rect">
            <a:avLst/>
          </a:prstGeom>
          <a:solidFill>
            <a:srgbClr val="24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055363"/>
            <a:ext cx="45720" cy="85953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5653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0C05C"/>
                </a:solidFill>
                <a:latin typeface="Menl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238243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3F3F5"/>
                </a:solidFill>
                <a:latin typeface="Arial"/>
              </a:rPr>
              <a:t>Then take a list in code and chain filter and sorted over 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E12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3F3F5"/>
                </a:solidFill>
                <a:latin typeface="Arial"/>
              </a:rPr>
              <a:t>Module 4 — Networking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43400"/>
            <a:ext cx="1097280" cy="36576"/>
          </a:xfrm>
          <a:prstGeom prst="rect">
            <a:avLst/>
          </a:prstGeom>
          <a:solidFill>
            <a:srgbClr val="F0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A6A8B0"/>
                </a:solidFill>
                <a:latin typeface="Arial"/>
              </a:rPr>
              <a:t>The app starts talking to the internet: URLSession, JSON, and a real public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