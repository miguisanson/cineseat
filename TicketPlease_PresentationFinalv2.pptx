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Relationship Id="rId6" Type="http://schemas.openxmlformats.org/officeDocument/2006/relationships/image" Target="../media/image7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4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17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320042" cy="6858000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1" y="6547104"/>
            <a:ext cx="12191697" cy="310897"/>
          </a:xfrm>
          <a:prstGeom prst="rect">
            <a:avLst/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9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2960" y="1371600"/>
            <a:ext cx="1371601" cy="137160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Box 4"/>
          <p:cNvSpPr txBox="1"/>
          <p:nvPr/>
        </p:nvSpPr>
        <p:spPr>
          <a:xfrm>
            <a:off x="822960" y="2971800"/>
            <a:ext cx="10515601" cy="96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b="1" sz="68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Ticket</a:t>
            </a:r>
            <a:r>
              <a:rPr>
                <a:solidFill>
                  <a:srgbClr val="E12D39"/>
                </a:solidFill>
              </a:rPr>
              <a:t>Please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822960" y="4160520"/>
            <a:ext cx="10515601" cy="321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iOS Ticket-Booking App  ·  Engineering &amp; Product Showcase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822960" y="4800600"/>
            <a:ext cx="105156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5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Formerly “CineSeat”   ·   Swift 5   ·   UIKit   ·   MVVM + Clean Architecture   ·   iOS 17.5</a:t>
            </a:r>
          </a:p>
        </p:txBody>
      </p:sp>
      <p:sp>
        <p:nvSpPr>
          <p:cNvPr id="100" name="Rectangle 7"/>
          <p:cNvSpPr/>
          <p:nvPr/>
        </p:nvSpPr>
        <p:spPr>
          <a:xfrm>
            <a:off x="822960" y="5532120"/>
            <a:ext cx="2194561" cy="4114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8"/>
          <p:cNvSpPr txBox="1"/>
          <p:nvPr/>
        </p:nvSpPr>
        <p:spPr>
          <a:xfrm>
            <a:off x="822960" y="5715000"/>
            <a:ext cx="105156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3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Prepared by Miguel Joaquin A. Sanson   ·   miguelsanson21@gmail.com   ·   July 2026</a:t>
            </a:r>
          </a:p>
        </p:txBody>
      </p:sp>
      <p:pic>
        <p:nvPicPr>
          <p:cNvPr id="102" name="Picture 9" descr="Pictur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646919" y="457200"/>
            <a:ext cx="2945919" cy="60350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107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we’ll cover</a:t>
            </a:r>
          </a:p>
        </p:txBody>
      </p:sp>
      <p:sp>
        <p:nvSpPr>
          <p:cNvPr id="108" name="Rounded Rectangle 5"/>
          <p:cNvSpPr/>
          <p:nvPr/>
        </p:nvSpPr>
        <p:spPr>
          <a:xfrm>
            <a:off x="822960" y="1874518"/>
            <a:ext cx="10515601" cy="658369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Rectangle 6"/>
          <p:cNvSpPr/>
          <p:nvPr/>
        </p:nvSpPr>
        <p:spPr>
          <a:xfrm>
            <a:off x="822960" y="1874518"/>
            <a:ext cx="73153" cy="65836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7"/>
          <p:cNvSpPr txBox="1"/>
          <p:nvPr/>
        </p:nvSpPr>
        <p:spPr>
          <a:xfrm>
            <a:off x="1097280" y="2080234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01  Executive overview   </a:t>
            </a:r>
            <a:r>
              <a:rPr b="0" sz="1500">
                <a:solidFill>
                  <a:srgbClr val="A6A8B0"/>
                </a:solidFill>
              </a:rPr>
              <a:t>— what TicketPlease is, by the numbers, tech stack</a:t>
            </a:r>
          </a:p>
        </p:txBody>
      </p:sp>
      <p:sp>
        <p:nvSpPr>
          <p:cNvPr id="111" name="Rounded Rectangle 8"/>
          <p:cNvSpPr/>
          <p:nvPr/>
        </p:nvSpPr>
        <p:spPr>
          <a:xfrm>
            <a:off x="822960" y="2660903"/>
            <a:ext cx="10515601" cy="658369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Rectangle 9"/>
          <p:cNvSpPr/>
          <p:nvPr/>
        </p:nvSpPr>
        <p:spPr>
          <a:xfrm>
            <a:off x="822960" y="2660903"/>
            <a:ext cx="73153" cy="65836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10"/>
          <p:cNvSpPr txBox="1"/>
          <p:nvPr/>
        </p:nvSpPr>
        <p:spPr>
          <a:xfrm>
            <a:off x="1097280" y="2866618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02  Feature journey   </a:t>
            </a:r>
            <a:r>
              <a:rPr b="0" sz="1500">
                <a:solidFill>
                  <a:srgbClr val="A6A8B0"/>
                </a:solidFill>
              </a:rPr>
              <a:t>— every feature in build order (Jun 15 → Jul 3, 2026), with live screens</a:t>
            </a:r>
          </a:p>
        </p:txBody>
      </p:sp>
      <p:sp>
        <p:nvSpPr>
          <p:cNvPr id="114" name="Rounded Rectangle 11"/>
          <p:cNvSpPr/>
          <p:nvPr/>
        </p:nvSpPr>
        <p:spPr>
          <a:xfrm>
            <a:off x="822960" y="3447286"/>
            <a:ext cx="10515601" cy="658369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12"/>
          <p:cNvSpPr/>
          <p:nvPr/>
        </p:nvSpPr>
        <p:spPr>
          <a:xfrm>
            <a:off x="822960" y="3447286"/>
            <a:ext cx="73153" cy="65836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13"/>
          <p:cNvSpPr txBox="1"/>
          <p:nvPr/>
        </p:nvSpPr>
        <p:spPr>
          <a:xfrm>
            <a:off x="1097280" y="3653002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03  Feature deep-dives   </a:t>
            </a:r>
            <a:r>
              <a:rPr b="0" sz="1500">
                <a:solidFill>
                  <a:srgbClr val="A6A8B0"/>
                </a:solidFill>
              </a:rPr>
              <a:t>— booking, seat maps, reviews, maps, notifications</a:t>
            </a:r>
          </a:p>
        </p:txBody>
      </p:sp>
      <p:sp>
        <p:nvSpPr>
          <p:cNvPr id="117" name="Rounded Rectangle 14"/>
          <p:cNvSpPr/>
          <p:nvPr/>
        </p:nvSpPr>
        <p:spPr>
          <a:xfrm>
            <a:off x="822960" y="4233671"/>
            <a:ext cx="10515601" cy="658369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ectangle 15"/>
          <p:cNvSpPr/>
          <p:nvPr/>
        </p:nvSpPr>
        <p:spPr>
          <a:xfrm>
            <a:off x="822960" y="4233671"/>
            <a:ext cx="73153" cy="65836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16"/>
          <p:cNvSpPr txBox="1"/>
          <p:nvPr/>
        </p:nvSpPr>
        <p:spPr>
          <a:xfrm>
            <a:off x="1097280" y="4439387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04  Engineering &amp; learning   </a:t>
            </a:r>
            <a:r>
              <a:rPr b="0" sz="1500">
                <a:solidFill>
                  <a:srgbClr val="A6A8B0"/>
                </a:solidFill>
              </a:rPr>
              <a:t>— architecture, DI, and the 6 iOS modules practiced</a:t>
            </a:r>
          </a:p>
        </p:txBody>
      </p:sp>
      <p:sp>
        <p:nvSpPr>
          <p:cNvPr id="120" name="Rounded Rectangle 17"/>
          <p:cNvSpPr/>
          <p:nvPr/>
        </p:nvSpPr>
        <p:spPr>
          <a:xfrm>
            <a:off x="822960" y="5020055"/>
            <a:ext cx="10515601" cy="658369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Rectangle 18"/>
          <p:cNvSpPr/>
          <p:nvPr/>
        </p:nvSpPr>
        <p:spPr>
          <a:xfrm>
            <a:off x="822960" y="5020055"/>
            <a:ext cx="73153" cy="65836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TextBox 19"/>
          <p:cNvSpPr txBox="1"/>
          <p:nvPr/>
        </p:nvSpPr>
        <p:spPr>
          <a:xfrm>
            <a:off x="1097280" y="5225771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05  Business translation   </a:t>
            </a:r>
            <a:r>
              <a:rPr b="0" sz="1500">
                <a:solidFill>
                  <a:srgbClr val="A6A8B0"/>
                </a:solidFill>
              </a:rPr>
              <a:t>— reuse &amp; AI for Seven Seven Global Soft clients</a:t>
            </a:r>
          </a:p>
        </p:txBody>
      </p:sp>
      <p:sp>
        <p:nvSpPr>
          <p:cNvPr id="123" name="Rounded Rectangle 20"/>
          <p:cNvSpPr/>
          <p:nvPr/>
        </p:nvSpPr>
        <p:spPr>
          <a:xfrm>
            <a:off x="822960" y="5806440"/>
            <a:ext cx="10515601" cy="658369"/>
          </a:xfrm>
          <a:prstGeom prst="roundRect">
            <a:avLst>
              <a:gd name="adj" fmla="val 14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Rectangle 21"/>
          <p:cNvSpPr/>
          <p:nvPr/>
        </p:nvSpPr>
        <p:spPr>
          <a:xfrm>
            <a:off x="822960" y="5806440"/>
            <a:ext cx="73153" cy="65836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TextBox 22"/>
          <p:cNvSpPr txBox="1"/>
          <p:nvPr/>
        </p:nvSpPr>
        <p:spPr>
          <a:xfrm>
            <a:off x="1097280" y="6012155"/>
            <a:ext cx="1005840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06  Roadmap &amp; future work   </a:t>
            </a:r>
            <a:r>
              <a:rPr b="0" sz="1500">
                <a:solidFill>
                  <a:srgbClr val="A6A8B0"/>
                </a:solidFill>
              </a:rPr>
              <a:t>— production blockers and next steps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-1" y="0"/>
            <a:ext cx="4023361" cy="6858000"/>
          </a:xfrm>
          <a:prstGeom prst="rect">
            <a:avLst/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extBox 3"/>
          <p:cNvSpPr txBox="1"/>
          <p:nvPr/>
        </p:nvSpPr>
        <p:spPr>
          <a:xfrm>
            <a:off x="822959" y="2148839"/>
            <a:ext cx="2926082" cy="1702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0" name="Rectangle 4"/>
          <p:cNvSpPr/>
          <p:nvPr/>
        </p:nvSpPr>
        <p:spPr>
          <a:xfrm>
            <a:off x="4480559" y="2743200"/>
            <a:ext cx="82297" cy="1371600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TextBox 5"/>
          <p:cNvSpPr txBox="1"/>
          <p:nvPr/>
        </p:nvSpPr>
        <p:spPr>
          <a:xfrm>
            <a:off x="4754879" y="3060119"/>
            <a:ext cx="676656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4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Executive Overview</a:t>
            </a:r>
          </a:p>
        </p:txBody>
      </p:sp>
      <p:sp>
        <p:nvSpPr>
          <p:cNvPr id="132" name="TextBox 6"/>
          <p:cNvSpPr txBox="1"/>
          <p:nvPr/>
        </p:nvSpPr>
        <p:spPr>
          <a:xfrm>
            <a:off x="4754879" y="3977638"/>
            <a:ext cx="67665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7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TicketPlease is, at a glance</a:t>
            </a:r>
          </a:p>
        </p:txBody>
      </p:sp>
      <p:sp>
        <p:nvSpPr>
          <p:cNvPr id="133" name="TextBox 7"/>
          <p:cNvSpPr txBox="1"/>
          <p:nvPr/>
        </p:nvSpPr>
        <p:spPr>
          <a:xfrm>
            <a:off x="822959" y="6126479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TICKETPLEASE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EXECUTIVE OVERVIEW</a:t>
            </a:r>
          </a:p>
        </p:txBody>
      </p:sp>
      <p:sp>
        <p:nvSpPr>
          <p:cNvPr id="138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is TicketPlease?</a:t>
            </a:r>
          </a:p>
        </p:txBody>
      </p:sp>
      <p:sp>
        <p:nvSpPr>
          <p:cNvPr id="139" name="Rectangle 5"/>
          <p:cNvSpPr/>
          <p:nvPr/>
        </p:nvSpPr>
        <p:spPr>
          <a:xfrm>
            <a:off x="822960" y="1897379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6"/>
          <p:cNvSpPr txBox="1"/>
          <p:nvPr/>
        </p:nvSpPr>
        <p:spPr>
          <a:xfrm>
            <a:off x="1115567" y="1801367"/>
            <a:ext cx="6382513" cy="454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One app, three uses. </a:t>
            </a:r>
            <a:r>
              <a:rPr b="0">
                <a:solidFill>
                  <a:srgbClr val="F3F3F5"/>
                </a:solidFill>
              </a:rPr>
              <a:t>Book movies, concerts, and seminars from a single Showings hub.</a:t>
            </a:r>
          </a:p>
        </p:txBody>
      </p:sp>
      <p:sp>
        <p:nvSpPr>
          <p:cNvPr id="141" name="Rectangle 7"/>
          <p:cNvSpPr/>
          <p:nvPr/>
        </p:nvSpPr>
        <p:spPr>
          <a:xfrm>
            <a:off x="822960" y="2738627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8"/>
          <p:cNvSpPr txBox="1"/>
          <p:nvPr/>
        </p:nvSpPr>
        <p:spPr>
          <a:xfrm>
            <a:off x="1115567" y="2642616"/>
            <a:ext cx="6382513" cy="454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Complete journey. </a:t>
            </a:r>
            <a:r>
              <a:rPr b="0">
                <a:solidFill>
                  <a:srgbClr val="F3F3F5"/>
                </a:solidFill>
              </a:rPr>
              <a:t>Browse → detail → schedule → seats / quantity → summary → confirmation.</a:t>
            </a:r>
          </a:p>
        </p:txBody>
      </p:sp>
      <p:sp>
        <p:nvSpPr>
          <p:cNvPr id="143" name="Rectangle 9"/>
          <p:cNvSpPr/>
          <p:nvPr/>
        </p:nvSpPr>
        <p:spPr>
          <a:xfrm>
            <a:off x="822960" y="3579876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10"/>
          <p:cNvSpPr txBox="1"/>
          <p:nvPr/>
        </p:nvSpPr>
        <p:spPr>
          <a:xfrm>
            <a:off x="1115567" y="3483864"/>
            <a:ext cx="6382513" cy="454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Fully self-contained. </a:t>
            </a:r>
            <a:r>
              <a:rPr b="0">
                <a:solidFill>
                  <a:srgbClr val="F3F3F5"/>
                </a:solidFill>
              </a:rPr>
              <a:t>Local accounts, bookings, reviews and reminders — works offline.</a:t>
            </a:r>
          </a:p>
        </p:txBody>
      </p:sp>
      <p:sp>
        <p:nvSpPr>
          <p:cNvPr id="145" name="Rectangle 11"/>
          <p:cNvSpPr/>
          <p:nvPr/>
        </p:nvSpPr>
        <p:spPr>
          <a:xfrm>
            <a:off x="822960" y="4421123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12"/>
          <p:cNvSpPr txBox="1"/>
          <p:nvPr/>
        </p:nvSpPr>
        <p:spPr>
          <a:xfrm>
            <a:off x="1115567" y="4325111"/>
            <a:ext cx="6382513" cy="454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Real content. </a:t>
            </a:r>
            <a:r>
              <a:rPr b="0">
                <a:solidFill>
                  <a:srgbClr val="F3F3F5"/>
                </a:solidFill>
              </a:rPr>
              <a:t>Curated movies, cinemas, venues, posters and schedules.</a:t>
            </a:r>
          </a:p>
        </p:txBody>
      </p:sp>
      <p:sp>
        <p:nvSpPr>
          <p:cNvPr id="147" name="Rectangle 13"/>
          <p:cNvSpPr/>
          <p:nvPr/>
        </p:nvSpPr>
        <p:spPr>
          <a:xfrm>
            <a:off x="822960" y="526237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14"/>
          <p:cNvSpPr txBox="1"/>
          <p:nvPr/>
        </p:nvSpPr>
        <p:spPr>
          <a:xfrm>
            <a:off x="1115567" y="5166359"/>
            <a:ext cx="6382513" cy="454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Purpose-built practice. </a:t>
            </a:r>
            <a:r>
              <a:rPr b="0">
                <a:solidFill>
                  <a:srgbClr val="F3F3F5"/>
                </a:solidFill>
              </a:rPr>
              <a:t>A production-shaped iOS build to de-risk real client work.</a:t>
            </a:r>
          </a:p>
        </p:txBody>
      </p:sp>
      <p:pic>
        <p:nvPicPr>
          <p:cNvPr id="149" name="Picture 15" descr="Picture 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49640" y="1371600"/>
            <a:ext cx="2544203" cy="52120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EXECUTIVE OVERVIEW</a:t>
            </a:r>
          </a:p>
        </p:txBody>
      </p:sp>
      <p:sp>
        <p:nvSpPr>
          <p:cNvPr id="154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By the numbers</a:t>
            </a:r>
          </a:p>
        </p:txBody>
      </p:sp>
      <p:sp>
        <p:nvSpPr>
          <p:cNvPr id="155" name="Rounded Rectangle 5"/>
          <p:cNvSpPr/>
          <p:nvPr/>
        </p:nvSpPr>
        <p:spPr>
          <a:xfrm>
            <a:off x="822960" y="1828800"/>
            <a:ext cx="3310129" cy="2148840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Rectangle 6"/>
          <p:cNvSpPr/>
          <p:nvPr/>
        </p:nvSpPr>
        <p:spPr>
          <a:xfrm>
            <a:off x="822959" y="1828800"/>
            <a:ext cx="3310130" cy="73153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7"/>
          <p:cNvSpPr txBox="1"/>
          <p:nvPr/>
        </p:nvSpPr>
        <p:spPr>
          <a:xfrm>
            <a:off x="1051560" y="2011679"/>
            <a:ext cx="2944368" cy="740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5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158" name="TextBox 8"/>
          <p:cNvSpPr txBox="1"/>
          <p:nvPr/>
        </p:nvSpPr>
        <p:spPr>
          <a:xfrm>
            <a:off x="1069847" y="3035807"/>
            <a:ext cx="2944369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bookable items</a:t>
            </a:r>
          </a:p>
        </p:txBody>
      </p:sp>
      <p:sp>
        <p:nvSpPr>
          <p:cNvPr id="159" name="TextBox 9"/>
          <p:cNvSpPr txBox="1"/>
          <p:nvPr/>
        </p:nvSpPr>
        <p:spPr>
          <a:xfrm>
            <a:off x="1069847" y="3401567"/>
            <a:ext cx="294436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2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 movies · 15 concerts · 5 seminars</a:t>
            </a:r>
          </a:p>
        </p:txBody>
      </p:sp>
      <p:sp>
        <p:nvSpPr>
          <p:cNvPr id="160" name="Rounded Rectangle 10"/>
          <p:cNvSpPr/>
          <p:nvPr/>
        </p:nvSpPr>
        <p:spPr>
          <a:xfrm>
            <a:off x="4389120" y="1828800"/>
            <a:ext cx="3310129" cy="2148840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Rectangle 11"/>
          <p:cNvSpPr/>
          <p:nvPr/>
        </p:nvSpPr>
        <p:spPr>
          <a:xfrm>
            <a:off x="4389120" y="1828800"/>
            <a:ext cx="3310129" cy="73153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12"/>
          <p:cNvSpPr txBox="1"/>
          <p:nvPr/>
        </p:nvSpPr>
        <p:spPr>
          <a:xfrm>
            <a:off x="4617720" y="2011679"/>
            <a:ext cx="2944369" cy="740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5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63" name="TextBox 13"/>
          <p:cNvSpPr txBox="1"/>
          <p:nvPr/>
        </p:nvSpPr>
        <p:spPr>
          <a:xfrm>
            <a:off x="4636008" y="3035807"/>
            <a:ext cx="2944369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cinemas</a:t>
            </a:r>
          </a:p>
        </p:txBody>
      </p:sp>
      <p:sp>
        <p:nvSpPr>
          <p:cNvPr id="164" name="TextBox 14"/>
          <p:cNvSpPr txBox="1"/>
          <p:nvPr/>
        </p:nvSpPr>
        <p:spPr>
          <a:xfrm>
            <a:off x="4636008" y="3401567"/>
            <a:ext cx="294436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2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 standard ₱350 · 2 VIP ₱550</a:t>
            </a:r>
          </a:p>
        </p:txBody>
      </p:sp>
      <p:sp>
        <p:nvSpPr>
          <p:cNvPr id="165" name="Rounded Rectangle 15"/>
          <p:cNvSpPr/>
          <p:nvPr/>
        </p:nvSpPr>
        <p:spPr>
          <a:xfrm>
            <a:off x="7955280" y="1828800"/>
            <a:ext cx="3310129" cy="2148840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Rectangle 16"/>
          <p:cNvSpPr/>
          <p:nvPr/>
        </p:nvSpPr>
        <p:spPr>
          <a:xfrm>
            <a:off x="7955280" y="1828800"/>
            <a:ext cx="3310129" cy="73153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17"/>
          <p:cNvSpPr txBox="1"/>
          <p:nvPr/>
        </p:nvSpPr>
        <p:spPr>
          <a:xfrm>
            <a:off x="8183880" y="2011679"/>
            <a:ext cx="2944369" cy="7403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5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137</a:t>
            </a:r>
          </a:p>
        </p:txBody>
      </p:sp>
      <p:sp>
        <p:nvSpPr>
          <p:cNvPr id="168" name="TextBox 18"/>
          <p:cNvSpPr txBox="1"/>
          <p:nvPr/>
        </p:nvSpPr>
        <p:spPr>
          <a:xfrm>
            <a:off x="8202168" y="3035807"/>
            <a:ext cx="2944369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Swift source files</a:t>
            </a:r>
          </a:p>
        </p:txBody>
      </p:sp>
      <p:sp>
        <p:nvSpPr>
          <p:cNvPr id="169" name="TextBox 19"/>
          <p:cNvSpPr txBox="1"/>
          <p:nvPr/>
        </p:nvSpPr>
        <p:spPr>
          <a:xfrm>
            <a:off x="8202168" y="3401567"/>
            <a:ext cx="294436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2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MVVM · Domain · Persistence layers</a:t>
            </a:r>
          </a:p>
        </p:txBody>
      </p:sp>
      <p:sp>
        <p:nvSpPr>
          <p:cNvPr id="170" name="Rounded Rectangle 20"/>
          <p:cNvSpPr/>
          <p:nvPr/>
        </p:nvSpPr>
        <p:spPr>
          <a:xfrm>
            <a:off x="822960" y="4297679"/>
            <a:ext cx="3310129" cy="2148841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Rectangle 21"/>
          <p:cNvSpPr/>
          <p:nvPr/>
        </p:nvSpPr>
        <p:spPr>
          <a:xfrm>
            <a:off x="822959" y="4297679"/>
            <a:ext cx="3310130" cy="73153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22"/>
          <p:cNvSpPr txBox="1"/>
          <p:nvPr/>
        </p:nvSpPr>
        <p:spPr>
          <a:xfrm>
            <a:off x="1051560" y="4480559"/>
            <a:ext cx="2944368" cy="740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5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73" name="TextBox 23"/>
          <p:cNvSpPr txBox="1"/>
          <p:nvPr/>
        </p:nvSpPr>
        <p:spPr>
          <a:xfrm>
            <a:off x="1069847" y="5504688"/>
            <a:ext cx="2944369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dated milestones</a:t>
            </a:r>
          </a:p>
        </p:txBody>
      </p:sp>
      <p:sp>
        <p:nvSpPr>
          <p:cNvPr id="174" name="TextBox 24"/>
          <p:cNvSpPr txBox="1"/>
          <p:nvPr/>
        </p:nvSpPr>
        <p:spPr>
          <a:xfrm>
            <a:off x="1069847" y="5870447"/>
            <a:ext cx="294436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2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15 → Jul 3, 2026 (≈ 3-4 weeks)</a:t>
            </a:r>
          </a:p>
        </p:txBody>
      </p:sp>
      <p:sp>
        <p:nvSpPr>
          <p:cNvPr id="175" name="Rounded Rectangle 25"/>
          <p:cNvSpPr/>
          <p:nvPr/>
        </p:nvSpPr>
        <p:spPr>
          <a:xfrm>
            <a:off x="4389120" y="4297679"/>
            <a:ext cx="3310129" cy="2148841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26"/>
          <p:cNvSpPr/>
          <p:nvPr/>
        </p:nvSpPr>
        <p:spPr>
          <a:xfrm>
            <a:off x="4389120" y="4297679"/>
            <a:ext cx="3310129" cy="73153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27"/>
          <p:cNvSpPr txBox="1"/>
          <p:nvPr/>
        </p:nvSpPr>
        <p:spPr>
          <a:xfrm>
            <a:off x="4617720" y="4480559"/>
            <a:ext cx="2944369" cy="740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5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8" name="TextBox 28"/>
          <p:cNvSpPr txBox="1"/>
          <p:nvPr/>
        </p:nvSpPr>
        <p:spPr>
          <a:xfrm>
            <a:off x="4636008" y="5504688"/>
            <a:ext cx="2944369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iOS learning modules</a:t>
            </a:r>
          </a:p>
        </p:txBody>
      </p:sp>
      <p:sp>
        <p:nvSpPr>
          <p:cNvPr id="179" name="TextBox 29"/>
          <p:cNvSpPr txBox="1"/>
          <p:nvPr/>
        </p:nvSpPr>
        <p:spPr>
          <a:xfrm>
            <a:off x="4636008" y="5870447"/>
            <a:ext cx="294436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2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covered end-to-end</a:t>
            </a:r>
          </a:p>
        </p:txBody>
      </p:sp>
      <p:sp>
        <p:nvSpPr>
          <p:cNvPr id="180" name="Rounded Rectangle 30"/>
          <p:cNvSpPr/>
          <p:nvPr/>
        </p:nvSpPr>
        <p:spPr>
          <a:xfrm>
            <a:off x="7955280" y="4297679"/>
            <a:ext cx="3310129" cy="2148841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Rectangle 31"/>
          <p:cNvSpPr/>
          <p:nvPr/>
        </p:nvSpPr>
        <p:spPr>
          <a:xfrm>
            <a:off x="7955280" y="4297679"/>
            <a:ext cx="3310129" cy="73153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2" name="TextBox 32"/>
          <p:cNvSpPr txBox="1"/>
          <p:nvPr/>
        </p:nvSpPr>
        <p:spPr>
          <a:xfrm>
            <a:off x="8183880" y="4480559"/>
            <a:ext cx="2944369" cy="740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5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83" name="TextBox 33"/>
          <p:cNvSpPr txBox="1"/>
          <p:nvPr/>
        </p:nvSpPr>
        <p:spPr>
          <a:xfrm>
            <a:off x="8202168" y="5504688"/>
            <a:ext cx="2944369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third-party pods</a:t>
            </a:r>
          </a:p>
        </p:txBody>
      </p:sp>
      <p:sp>
        <p:nvSpPr>
          <p:cNvPr id="184" name="TextBox 34"/>
          <p:cNvSpPr txBox="1"/>
          <p:nvPr/>
        </p:nvSpPr>
        <p:spPr>
          <a:xfrm>
            <a:off x="8202168" y="5870447"/>
            <a:ext cx="2944369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2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100% native Apple frameworks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EXECUTIVE OVERVIEW</a:t>
            </a:r>
          </a:p>
        </p:txBody>
      </p:sp>
      <p:sp>
        <p:nvSpPr>
          <p:cNvPr id="189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Technology snapshot</a:t>
            </a:r>
          </a:p>
        </p:txBody>
      </p:sp>
      <p:sp>
        <p:nvSpPr>
          <p:cNvPr id="190" name="Rounded Rectangle 5"/>
          <p:cNvSpPr/>
          <p:nvPr/>
        </p:nvSpPr>
        <p:spPr>
          <a:xfrm>
            <a:off x="822960" y="1828800"/>
            <a:ext cx="3401568" cy="4114800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" name="Rounded Rectangle 6"/>
          <p:cNvSpPr/>
          <p:nvPr/>
        </p:nvSpPr>
        <p:spPr>
          <a:xfrm>
            <a:off x="822960" y="1828800"/>
            <a:ext cx="3401568" cy="566928"/>
          </a:xfrm>
          <a:prstGeom prst="roundRect">
            <a:avLst>
              <a:gd name="adj" fmla="val 6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7"/>
          <p:cNvSpPr txBox="1"/>
          <p:nvPr/>
        </p:nvSpPr>
        <p:spPr>
          <a:xfrm>
            <a:off x="1051559" y="2001287"/>
            <a:ext cx="303581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Language &amp; UI</a:t>
            </a:r>
          </a:p>
        </p:txBody>
      </p:sp>
      <p:sp>
        <p:nvSpPr>
          <p:cNvPr id="193" name="Rectangle 8"/>
          <p:cNvSpPr/>
          <p:nvPr/>
        </p:nvSpPr>
        <p:spPr>
          <a:xfrm>
            <a:off x="1051560" y="2674620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" name="TextBox 9"/>
          <p:cNvSpPr txBox="1"/>
          <p:nvPr/>
        </p:nvSpPr>
        <p:spPr>
          <a:xfrm>
            <a:off x="1344167" y="2578607"/>
            <a:ext cx="26974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Swift 5</a:t>
            </a:r>
          </a:p>
        </p:txBody>
      </p:sp>
      <p:sp>
        <p:nvSpPr>
          <p:cNvPr id="195" name="Rectangle 10"/>
          <p:cNvSpPr/>
          <p:nvPr/>
        </p:nvSpPr>
        <p:spPr>
          <a:xfrm>
            <a:off x="1051560" y="3332986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11"/>
          <p:cNvSpPr txBox="1"/>
          <p:nvPr/>
        </p:nvSpPr>
        <p:spPr>
          <a:xfrm>
            <a:off x="1344167" y="3236975"/>
            <a:ext cx="26974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UIKit — storyboard + programmatic</a:t>
            </a:r>
          </a:p>
        </p:txBody>
      </p:sp>
      <p:sp>
        <p:nvSpPr>
          <p:cNvPr id="197" name="Rectangle 12"/>
          <p:cNvSpPr/>
          <p:nvPr/>
        </p:nvSpPr>
        <p:spPr>
          <a:xfrm>
            <a:off x="1051560" y="3991354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extBox 13"/>
          <p:cNvSpPr txBox="1"/>
          <p:nvPr/>
        </p:nvSpPr>
        <p:spPr>
          <a:xfrm>
            <a:off x="1344167" y="3895342"/>
            <a:ext cx="2697481" cy="379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Auto Layout, UIScrollView, UIStackView</a:t>
            </a:r>
          </a:p>
        </p:txBody>
      </p:sp>
      <p:sp>
        <p:nvSpPr>
          <p:cNvPr id="199" name="Rectangle 14"/>
          <p:cNvSpPr/>
          <p:nvPr/>
        </p:nvSpPr>
        <p:spPr>
          <a:xfrm>
            <a:off x="1051560" y="4649723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15"/>
          <p:cNvSpPr txBox="1"/>
          <p:nvPr/>
        </p:nvSpPr>
        <p:spPr>
          <a:xfrm>
            <a:off x="1344167" y="4553710"/>
            <a:ext cx="26974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Custom seat-map &amp; card views</a:t>
            </a:r>
          </a:p>
        </p:txBody>
      </p:sp>
      <p:sp>
        <p:nvSpPr>
          <p:cNvPr id="201" name="Rounded Rectangle 16"/>
          <p:cNvSpPr/>
          <p:nvPr/>
        </p:nvSpPr>
        <p:spPr>
          <a:xfrm>
            <a:off x="4498847" y="1828800"/>
            <a:ext cx="3401569" cy="4114800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2" name="Rounded Rectangle 17"/>
          <p:cNvSpPr/>
          <p:nvPr/>
        </p:nvSpPr>
        <p:spPr>
          <a:xfrm>
            <a:off x="4498847" y="1828800"/>
            <a:ext cx="3401569" cy="566928"/>
          </a:xfrm>
          <a:prstGeom prst="roundRect">
            <a:avLst>
              <a:gd name="adj" fmla="val 6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18"/>
          <p:cNvSpPr txBox="1"/>
          <p:nvPr/>
        </p:nvSpPr>
        <p:spPr>
          <a:xfrm>
            <a:off x="4727447" y="2001287"/>
            <a:ext cx="3035809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Architecture</a:t>
            </a:r>
          </a:p>
        </p:txBody>
      </p:sp>
      <p:sp>
        <p:nvSpPr>
          <p:cNvPr id="204" name="Rectangle 19"/>
          <p:cNvSpPr/>
          <p:nvPr/>
        </p:nvSpPr>
        <p:spPr>
          <a:xfrm>
            <a:off x="4727447" y="2674620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20"/>
          <p:cNvSpPr txBox="1"/>
          <p:nvPr/>
        </p:nvSpPr>
        <p:spPr>
          <a:xfrm>
            <a:off x="5020055" y="2578607"/>
            <a:ext cx="269748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MVVM + Clean Architecture</a:t>
            </a:r>
          </a:p>
        </p:txBody>
      </p:sp>
      <p:sp>
        <p:nvSpPr>
          <p:cNvPr id="206" name="Rectangle 21"/>
          <p:cNvSpPr/>
          <p:nvPr/>
        </p:nvSpPr>
        <p:spPr>
          <a:xfrm>
            <a:off x="4727447" y="3332986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22"/>
          <p:cNvSpPr txBox="1"/>
          <p:nvPr/>
        </p:nvSpPr>
        <p:spPr>
          <a:xfrm>
            <a:off x="5020055" y="3236975"/>
            <a:ext cx="2697482" cy="37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Protocol-based dependency injection</a:t>
            </a:r>
          </a:p>
        </p:txBody>
      </p:sp>
      <p:sp>
        <p:nvSpPr>
          <p:cNvPr id="208" name="Rectangle 23"/>
          <p:cNvSpPr/>
          <p:nvPr/>
        </p:nvSpPr>
        <p:spPr>
          <a:xfrm>
            <a:off x="4727447" y="3991354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24"/>
          <p:cNvSpPr txBox="1"/>
          <p:nvPr/>
        </p:nvSpPr>
        <p:spPr>
          <a:xfrm>
            <a:off x="5020055" y="3895342"/>
            <a:ext cx="2697482" cy="379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AppFactory composition root or the builder for each screen of the app</a:t>
            </a:r>
          </a:p>
        </p:txBody>
      </p:sp>
      <p:sp>
        <p:nvSpPr>
          <p:cNvPr id="210" name="Rectangle 25"/>
          <p:cNvSpPr/>
          <p:nvPr/>
        </p:nvSpPr>
        <p:spPr>
          <a:xfrm>
            <a:off x="4727447" y="4649723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26"/>
          <p:cNvSpPr txBox="1"/>
          <p:nvPr/>
        </p:nvSpPr>
        <p:spPr>
          <a:xfrm>
            <a:off x="5020055" y="4553710"/>
            <a:ext cx="2697482" cy="379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Constants = Shared formatters &amp; design tokens</a:t>
            </a:r>
          </a:p>
        </p:txBody>
      </p:sp>
      <p:sp>
        <p:nvSpPr>
          <p:cNvPr id="212" name="Rounded Rectangle 27"/>
          <p:cNvSpPr/>
          <p:nvPr/>
        </p:nvSpPr>
        <p:spPr>
          <a:xfrm>
            <a:off x="8174735" y="1828800"/>
            <a:ext cx="3401569" cy="4114800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3" name="Rounded Rectangle 28"/>
          <p:cNvSpPr/>
          <p:nvPr/>
        </p:nvSpPr>
        <p:spPr>
          <a:xfrm>
            <a:off x="8174735" y="1828800"/>
            <a:ext cx="3401569" cy="566928"/>
          </a:xfrm>
          <a:prstGeom prst="roundRect">
            <a:avLst>
              <a:gd name="adj" fmla="val 6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TextBox 29"/>
          <p:cNvSpPr txBox="1"/>
          <p:nvPr/>
        </p:nvSpPr>
        <p:spPr>
          <a:xfrm>
            <a:off x="8403335" y="2001287"/>
            <a:ext cx="303581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&amp; platform</a:t>
            </a:r>
          </a:p>
        </p:txBody>
      </p:sp>
      <p:sp>
        <p:nvSpPr>
          <p:cNvPr id="215" name="Rectangle 30"/>
          <p:cNvSpPr/>
          <p:nvPr/>
        </p:nvSpPr>
        <p:spPr>
          <a:xfrm>
            <a:off x="8403335" y="2674620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TextBox 31"/>
          <p:cNvSpPr txBox="1"/>
          <p:nvPr/>
        </p:nvSpPr>
        <p:spPr>
          <a:xfrm>
            <a:off x="8695943" y="2578607"/>
            <a:ext cx="26974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JSON (FileManager + Codable)</a:t>
            </a:r>
          </a:p>
        </p:txBody>
      </p:sp>
      <p:sp>
        <p:nvSpPr>
          <p:cNvPr id="217" name="Rectangle 32"/>
          <p:cNvSpPr/>
          <p:nvPr/>
        </p:nvSpPr>
        <p:spPr>
          <a:xfrm>
            <a:off x="8403335" y="3332986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33"/>
          <p:cNvSpPr txBox="1"/>
          <p:nvPr/>
        </p:nvSpPr>
        <p:spPr>
          <a:xfrm>
            <a:off x="8695943" y="3236975"/>
            <a:ext cx="26974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plist · UserDefaults · Keychain</a:t>
            </a:r>
          </a:p>
        </p:txBody>
      </p:sp>
      <p:sp>
        <p:nvSpPr>
          <p:cNvPr id="219" name="Rectangle 34"/>
          <p:cNvSpPr/>
          <p:nvPr/>
        </p:nvSpPr>
        <p:spPr>
          <a:xfrm>
            <a:off x="8403335" y="3991354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TextBox 35"/>
          <p:cNvSpPr txBox="1"/>
          <p:nvPr/>
        </p:nvSpPr>
        <p:spPr>
          <a:xfrm>
            <a:off x="8695943" y="3895342"/>
            <a:ext cx="2697481" cy="379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MapKit · UserNotifications · URLSession</a:t>
            </a:r>
          </a:p>
        </p:txBody>
      </p:sp>
      <p:sp>
        <p:nvSpPr>
          <p:cNvPr id="221" name="Rectangle 36"/>
          <p:cNvSpPr/>
          <p:nvPr/>
        </p:nvSpPr>
        <p:spPr>
          <a:xfrm>
            <a:off x="8403335" y="4649723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37"/>
          <p:cNvSpPr txBox="1"/>
          <p:nvPr/>
        </p:nvSpPr>
        <p:spPr>
          <a:xfrm>
            <a:off x="8695943" y="4553710"/>
            <a:ext cx="269748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 Core Data · No CocoaPods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EXECUTIVE OVERVIEW</a:t>
            </a:r>
          </a:p>
        </p:txBody>
      </p:sp>
      <p:sp>
        <p:nvSpPr>
          <p:cNvPr id="227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four tabs</a:t>
            </a:r>
          </a:p>
        </p:txBody>
      </p:sp>
      <p:sp>
        <p:nvSpPr>
          <p:cNvPr id="228" name="Rounded Rectangle 5"/>
          <p:cNvSpPr/>
          <p:nvPr/>
        </p:nvSpPr>
        <p:spPr>
          <a:xfrm>
            <a:off x="822960" y="1828800"/>
            <a:ext cx="6766560" cy="932689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9" name="Rectangle 6"/>
          <p:cNvSpPr/>
          <p:nvPr/>
        </p:nvSpPr>
        <p:spPr>
          <a:xfrm>
            <a:off x="822960" y="1828800"/>
            <a:ext cx="82297" cy="932689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7"/>
          <p:cNvSpPr txBox="1"/>
          <p:nvPr/>
        </p:nvSpPr>
        <p:spPr>
          <a:xfrm>
            <a:off x="1097280" y="1938527"/>
            <a:ext cx="64008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Showings</a:t>
            </a:r>
          </a:p>
        </p:txBody>
      </p:sp>
      <p:sp>
        <p:nvSpPr>
          <p:cNvPr id="231" name="TextBox 8"/>
          <p:cNvSpPr txBox="1"/>
          <p:nvPr/>
        </p:nvSpPr>
        <p:spPr>
          <a:xfrm>
            <a:off x="1097280" y="2304288"/>
            <a:ext cx="6400801" cy="37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3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Category landing → Movies / Concerts / Seminars, each with search, status, rating sort &amp; location filters.</a:t>
            </a:r>
          </a:p>
        </p:txBody>
      </p:sp>
      <p:sp>
        <p:nvSpPr>
          <p:cNvPr id="232" name="Rounded Rectangle 9"/>
          <p:cNvSpPr/>
          <p:nvPr/>
        </p:nvSpPr>
        <p:spPr>
          <a:xfrm>
            <a:off x="822960" y="2889504"/>
            <a:ext cx="6766560" cy="932689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Rectangle 10"/>
          <p:cNvSpPr/>
          <p:nvPr/>
        </p:nvSpPr>
        <p:spPr>
          <a:xfrm>
            <a:off x="822960" y="2889504"/>
            <a:ext cx="82297" cy="932689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11"/>
          <p:cNvSpPr txBox="1"/>
          <p:nvPr/>
        </p:nvSpPr>
        <p:spPr>
          <a:xfrm>
            <a:off x="1097280" y="2999232"/>
            <a:ext cx="64008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Bookings</a:t>
            </a:r>
          </a:p>
        </p:txBody>
      </p:sp>
      <p:sp>
        <p:nvSpPr>
          <p:cNvPr id="235" name="TextBox 12"/>
          <p:cNvSpPr txBox="1"/>
          <p:nvPr/>
        </p:nvSpPr>
        <p:spPr>
          <a:xfrm>
            <a:off x="1097280" y="3364991"/>
            <a:ext cx="64008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3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booking history with detail, seat map, cancellation, and per-ticket email sharing.</a:t>
            </a:r>
          </a:p>
        </p:txBody>
      </p:sp>
      <p:sp>
        <p:nvSpPr>
          <p:cNvPr id="236" name="Rounded Rectangle 13"/>
          <p:cNvSpPr/>
          <p:nvPr/>
        </p:nvSpPr>
        <p:spPr>
          <a:xfrm>
            <a:off x="822960" y="3950208"/>
            <a:ext cx="6766560" cy="932689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Rectangle 14"/>
          <p:cNvSpPr/>
          <p:nvPr/>
        </p:nvSpPr>
        <p:spPr>
          <a:xfrm>
            <a:off x="822960" y="3950208"/>
            <a:ext cx="82297" cy="932689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15"/>
          <p:cNvSpPr txBox="1"/>
          <p:nvPr/>
        </p:nvSpPr>
        <p:spPr>
          <a:xfrm>
            <a:off x="1097280" y="4059935"/>
            <a:ext cx="6400801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Locations</a:t>
            </a:r>
          </a:p>
        </p:txBody>
      </p:sp>
      <p:sp>
        <p:nvSpPr>
          <p:cNvPr id="239" name="TextBox 16"/>
          <p:cNvSpPr txBox="1"/>
          <p:nvPr/>
        </p:nvSpPr>
        <p:spPr>
          <a:xfrm>
            <a:off x="1097280" y="4425696"/>
            <a:ext cx="6400801" cy="37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3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MapKit pins &amp; callouts, Cinema Details, and assigned showtimes with Apple Maps hand-off.</a:t>
            </a:r>
          </a:p>
        </p:txBody>
      </p:sp>
      <p:sp>
        <p:nvSpPr>
          <p:cNvPr id="240" name="Rounded Rectangle 17"/>
          <p:cNvSpPr/>
          <p:nvPr/>
        </p:nvSpPr>
        <p:spPr>
          <a:xfrm>
            <a:off x="822960" y="5010911"/>
            <a:ext cx="6766560" cy="932689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Rectangle 18"/>
          <p:cNvSpPr/>
          <p:nvPr/>
        </p:nvSpPr>
        <p:spPr>
          <a:xfrm>
            <a:off x="822960" y="5010911"/>
            <a:ext cx="82297" cy="932689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19"/>
          <p:cNvSpPr txBox="1"/>
          <p:nvPr/>
        </p:nvSpPr>
        <p:spPr>
          <a:xfrm>
            <a:off x="1097280" y="5120640"/>
            <a:ext cx="6400801" cy="2592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Profile</a:t>
            </a:r>
          </a:p>
        </p:txBody>
      </p:sp>
      <p:sp>
        <p:nvSpPr>
          <p:cNvPr id="243" name="TextBox 20"/>
          <p:cNvSpPr txBox="1"/>
          <p:nvPr/>
        </p:nvSpPr>
        <p:spPr>
          <a:xfrm>
            <a:off x="1097280" y="5486400"/>
            <a:ext cx="6400801" cy="375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3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Account creation, login, editing, restored sessions, Settings, and a gated Developer Mode.</a:t>
            </a:r>
          </a:p>
        </p:txBody>
      </p:sp>
      <p:pic>
        <p:nvPicPr>
          <p:cNvPr id="244" name="Picture 21" descr="Picture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49640" y="1417319"/>
            <a:ext cx="2499568" cy="51206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8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EXECUTIVE OVERVIEW</a:t>
            </a:r>
          </a:p>
        </p:txBody>
      </p:sp>
      <p:sp>
        <p:nvSpPr>
          <p:cNvPr id="249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 tour — a look at the real app</a:t>
            </a:r>
          </a:p>
        </p:txBody>
      </p:sp>
      <p:pic>
        <p:nvPicPr>
          <p:cNvPr id="250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1994" y="1874518"/>
            <a:ext cx="1852359" cy="3794761"/>
          </a:xfrm>
          <a:prstGeom prst="rect">
            <a:avLst/>
          </a:prstGeom>
          <a:ln w="12700">
            <a:miter lim="400000"/>
          </a:ln>
        </p:spPr>
      </p:pic>
      <p:sp>
        <p:nvSpPr>
          <p:cNvPr id="251" name="TextBox 6"/>
          <p:cNvSpPr txBox="1"/>
          <p:nvPr/>
        </p:nvSpPr>
        <p:spPr>
          <a:xfrm>
            <a:off x="147674" y="5724144"/>
            <a:ext cx="2400999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Showings hub</a:t>
            </a:r>
          </a:p>
        </p:txBody>
      </p:sp>
      <p:pic>
        <p:nvPicPr>
          <p:cNvPr id="252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42234" y="1874518"/>
            <a:ext cx="1852359" cy="3794761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TextBox 8"/>
          <p:cNvSpPr txBox="1"/>
          <p:nvPr/>
        </p:nvSpPr>
        <p:spPr>
          <a:xfrm>
            <a:off x="2067915" y="5724144"/>
            <a:ext cx="2400998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Movie detail</a:t>
            </a:r>
          </a:p>
        </p:txBody>
      </p:sp>
      <p:pic>
        <p:nvPicPr>
          <p:cNvPr id="254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62475" y="1874518"/>
            <a:ext cx="1852358" cy="3794761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Box 10"/>
          <p:cNvSpPr txBox="1"/>
          <p:nvPr/>
        </p:nvSpPr>
        <p:spPr>
          <a:xfrm>
            <a:off x="3988155" y="5724144"/>
            <a:ext cx="2400998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Seat selection</a:t>
            </a:r>
          </a:p>
        </p:txBody>
      </p:sp>
      <p:pic>
        <p:nvPicPr>
          <p:cNvPr id="256" name="Picture 11" descr="Picture 1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182714" y="1874518"/>
            <a:ext cx="1852358" cy="3794761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TextBox 12"/>
          <p:cNvSpPr txBox="1"/>
          <p:nvPr/>
        </p:nvSpPr>
        <p:spPr>
          <a:xfrm>
            <a:off x="5908395" y="5724144"/>
            <a:ext cx="2400998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Locations map</a:t>
            </a:r>
          </a:p>
        </p:txBody>
      </p:sp>
      <p:pic>
        <p:nvPicPr>
          <p:cNvPr id="258" name="Picture 13" descr="Picture 1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102955" y="1874518"/>
            <a:ext cx="1852358" cy="379476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TextBox 14"/>
          <p:cNvSpPr txBox="1"/>
          <p:nvPr/>
        </p:nvSpPr>
        <p:spPr>
          <a:xfrm>
            <a:off x="7828635" y="5724144"/>
            <a:ext cx="2400998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Confirmation</a:t>
            </a:r>
          </a:p>
        </p:txBody>
      </p:sp>
      <p:pic>
        <p:nvPicPr>
          <p:cNvPr id="260" name="Picture 15" descr="Picture 1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023195" y="1874518"/>
            <a:ext cx="1852358" cy="3794761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Box 16"/>
          <p:cNvSpPr txBox="1"/>
          <p:nvPr/>
        </p:nvSpPr>
        <p:spPr>
          <a:xfrm>
            <a:off x="9748874" y="5724144"/>
            <a:ext cx="2400998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Developer Mode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1"/>
          <p:cNvSpPr/>
          <p:nvPr/>
        </p:nvSpPr>
        <p:spPr>
          <a:xfrm>
            <a:off x="-1" y="0"/>
            <a:ext cx="4023361" cy="6858000"/>
          </a:xfrm>
          <a:prstGeom prst="rect">
            <a:avLst/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4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5" name="TextBox 3"/>
          <p:cNvSpPr txBox="1"/>
          <p:nvPr/>
        </p:nvSpPr>
        <p:spPr>
          <a:xfrm>
            <a:off x="822959" y="2148839"/>
            <a:ext cx="2926082" cy="1702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66" name="Rectangle 4"/>
          <p:cNvSpPr/>
          <p:nvPr/>
        </p:nvSpPr>
        <p:spPr>
          <a:xfrm>
            <a:off x="4480559" y="2743200"/>
            <a:ext cx="82297" cy="1371600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TextBox 5"/>
          <p:cNvSpPr txBox="1"/>
          <p:nvPr/>
        </p:nvSpPr>
        <p:spPr>
          <a:xfrm>
            <a:off x="4754879" y="3060119"/>
            <a:ext cx="676656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4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 Journey</a:t>
            </a:r>
          </a:p>
        </p:txBody>
      </p:sp>
      <p:sp>
        <p:nvSpPr>
          <p:cNvPr id="268" name="TextBox 6"/>
          <p:cNvSpPr txBox="1"/>
          <p:nvPr/>
        </p:nvSpPr>
        <p:spPr>
          <a:xfrm>
            <a:off x="4754879" y="3977638"/>
            <a:ext cx="67665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7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Every feature, in the order it was built</a:t>
            </a:r>
          </a:p>
        </p:txBody>
      </p:sp>
      <p:sp>
        <p:nvSpPr>
          <p:cNvPr id="269" name="TextBox 7"/>
          <p:cNvSpPr txBox="1"/>
          <p:nvPr/>
        </p:nvSpPr>
        <p:spPr>
          <a:xfrm>
            <a:off x="822959" y="6126479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TICKETPLEASE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 JOURNEY</a:t>
            </a:r>
          </a:p>
        </p:txBody>
      </p:sp>
      <p:sp>
        <p:nvSpPr>
          <p:cNvPr id="274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build timeline — 11 milestones in ≈ 3 weeks</a:t>
            </a:r>
          </a:p>
        </p:txBody>
      </p:sp>
      <p:sp>
        <p:nvSpPr>
          <p:cNvPr id="275" name="Rectangle 5"/>
          <p:cNvSpPr/>
          <p:nvPr/>
        </p:nvSpPr>
        <p:spPr>
          <a:xfrm>
            <a:off x="1874518" y="1783079"/>
            <a:ext cx="32005" cy="4343401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6"/>
          <p:cNvSpPr txBox="1"/>
          <p:nvPr/>
        </p:nvSpPr>
        <p:spPr>
          <a:xfrm>
            <a:off x="822960" y="1792223"/>
            <a:ext cx="960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15</a:t>
            </a:r>
          </a:p>
        </p:txBody>
      </p:sp>
      <p:sp>
        <p:nvSpPr>
          <p:cNvPr id="277" name="Oval 7"/>
          <p:cNvSpPr/>
          <p:nvPr/>
        </p:nvSpPr>
        <p:spPr>
          <a:xfrm>
            <a:off x="1783079" y="1847088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8" name="TextBox 8"/>
          <p:cNvSpPr txBox="1"/>
          <p:nvPr/>
        </p:nvSpPr>
        <p:spPr>
          <a:xfrm>
            <a:off x="1783079" y="1892044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79" name="TextBox 9"/>
          <p:cNvSpPr txBox="1"/>
          <p:nvPr/>
        </p:nvSpPr>
        <p:spPr>
          <a:xfrm>
            <a:off x="2240279" y="1792223"/>
            <a:ext cx="603504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UIKit + MVVM foundation</a:t>
            </a:r>
          </a:p>
        </p:txBody>
      </p:sp>
      <p:sp>
        <p:nvSpPr>
          <p:cNvPr id="280" name="TextBox 10"/>
          <p:cNvSpPr txBox="1"/>
          <p:nvPr/>
        </p:nvSpPr>
        <p:spPr>
          <a:xfrm>
            <a:off x="822960" y="2194560"/>
            <a:ext cx="96012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17</a:t>
            </a:r>
          </a:p>
        </p:txBody>
      </p:sp>
      <p:sp>
        <p:nvSpPr>
          <p:cNvPr id="281" name="Oval 11"/>
          <p:cNvSpPr/>
          <p:nvPr/>
        </p:nvSpPr>
        <p:spPr>
          <a:xfrm>
            <a:off x="1783079" y="2249423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12"/>
          <p:cNvSpPr txBox="1"/>
          <p:nvPr/>
        </p:nvSpPr>
        <p:spPr>
          <a:xfrm>
            <a:off x="1783079" y="2294380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83" name="TextBox 13"/>
          <p:cNvSpPr txBox="1"/>
          <p:nvPr/>
        </p:nvSpPr>
        <p:spPr>
          <a:xfrm>
            <a:off x="2240279" y="2194560"/>
            <a:ext cx="603504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Booking, profile &amp; persistence</a:t>
            </a:r>
          </a:p>
        </p:txBody>
      </p:sp>
      <p:sp>
        <p:nvSpPr>
          <p:cNvPr id="284" name="TextBox 14"/>
          <p:cNvSpPr txBox="1"/>
          <p:nvPr/>
        </p:nvSpPr>
        <p:spPr>
          <a:xfrm>
            <a:off x="822960" y="2596895"/>
            <a:ext cx="960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19</a:t>
            </a:r>
          </a:p>
        </p:txBody>
      </p:sp>
      <p:sp>
        <p:nvSpPr>
          <p:cNvPr id="285" name="Oval 15"/>
          <p:cNvSpPr/>
          <p:nvPr/>
        </p:nvSpPr>
        <p:spPr>
          <a:xfrm>
            <a:off x="1783079" y="2651760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6" name="TextBox 16"/>
          <p:cNvSpPr txBox="1"/>
          <p:nvPr/>
        </p:nvSpPr>
        <p:spPr>
          <a:xfrm>
            <a:off x="1783079" y="2696716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7" name="TextBox 17"/>
          <p:cNvSpPr txBox="1"/>
          <p:nvPr/>
        </p:nvSpPr>
        <p:spPr>
          <a:xfrm>
            <a:off x="2240279" y="2596895"/>
            <a:ext cx="603504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Movie data, posters &amp; seating</a:t>
            </a:r>
          </a:p>
        </p:txBody>
      </p:sp>
      <p:sp>
        <p:nvSpPr>
          <p:cNvPr id="288" name="TextBox 18"/>
          <p:cNvSpPr txBox="1"/>
          <p:nvPr/>
        </p:nvSpPr>
        <p:spPr>
          <a:xfrm>
            <a:off x="822960" y="2999232"/>
            <a:ext cx="96012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22</a:t>
            </a:r>
          </a:p>
        </p:txBody>
      </p:sp>
      <p:sp>
        <p:nvSpPr>
          <p:cNvPr id="289" name="Oval 19"/>
          <p:cNvSpPr/>
          <p:nvPr/>
        </p:nvSpPr>
        <p:spPr>
          <a:xfrm>
            <a:off x="1783079" y="3054095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0" name="TextBox 20"/>
          <p:cNvSpPr txBox="1"/>
          <p:nvPr/>
        </p:nvSpPr>
        <p:spPr>
          <a:xfrm>
            <a:off x="1783079" y="3099052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91" name="TextBox 21"/>
          <p:cNvSpPr txBox="1"/>
          <p:nvPr/>
        </p:nvSpPr>
        <p:spPr>
          <a:xfrm>
            <a:off x="2240279" y="2999232"/>
            <a:ext cx="603504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Schedules, notifications &amp; DI (Dependency Injection)</a:t>
            </a:r>
          </a:p>
        </p:txBody>
      </p:sp>
      <p:sp>
        <p:nvSpPr>
          <p:cNvPr id="292" name="TextBox 22"/>
          <p:cNvSpPr txBox="1"/>
          <p:nvPr/>
        </p:nvSpPr>
        <p:spPr>
          <a:xfrm>
            <a:off x="822960" y="3401567"/>
            <a:ext cx="960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23</a:t>
            </a:r>
          </a:p>
        </p:txBody>
      </p:sp>
      <p:sp>
        <p:nvSpPr>
          <p:cNvPr id="293" name="Oval 23"/>
          <p:cNvSpPr/>
          <p:nvPr/>
        </p:nvSpPr>
        <p:spPr>
          <a:xfrm>
            <a:off x="1783079" y="3456432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4" name="TextBox 24"/>
          <p:cNvSpPr txBox="1"/>
          <p:nvPr/>
        </p:nvSpPr>
        <p:spPr>
          <a:xfrm>
            <a:off x="1783079" y="3501388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95" name="TextBox 25"/>
          <p:cNvSpPr txBox="1"/>
          <p:nvPr/>
        </p:nvSpPr>
        <p:spPr>
          <a:xfrm>
            <a:off x="2240279" y="3401567"/>
            <a:ext cx="603504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Plist settings &amp; UI polish</a:t>
            </a:r>
          </a:p>
        </p:txBody>
      </p:sp>
      <p:sp>
        <p:nvSpPr>
          <p:cNvPr id="296" name="TextBox 26"/>
          <p:cNvSpPr txBox="1"/>
          <p:nvPr/>
        </p:nvSpPr>
        <p:spPr>
          <a:xfrm>
            <a:off x="822960" y="3803903"/>
            <a:ext cx="960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24</a:t>
            </a:r>
          </a:p>
        </p:txBody>
      </p:sp>
      <p:sp>
        <p:nvSpPr>
          <p:cNvPr id="297" name="Oval 27"/>
          <p:cNvSpPr/>
          <p:nvPr/>
        </p:nvSpPr>
        <p:spPr>
          <a:xfrm>
            <a:off x="1783079" y="3858767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TextBox 28"/>
          <p:cNvSpPr txBox="1"/>
          <p:nvPr/>
        </p:nvSpPr>
        <p:spPr>
          <a:xfrm>
            <a:off x="1783079" y="3903724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99" name="TextBox 29"/>
          <p:cNvSpPr txBox="1"/>
          <p:nvPr/>
        </p:nvSpPr>
        <p:spPr>
          <a:xfrm>
            <a:off x="2240279" y="3803903"/>
            <a:ext cx="603504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Showings, maps &amp; sharing</a:t>
            </a:r>
          </a:p>
        </p:txBody>
      </p:sp>
      <p:sp>
        <p:nvSpPr>
          <p:cNvPr id="300" name="TextBox 30"/>
          <p:cNvSpPr txBox="1"/>
          <p:nvPr/>
        </p:nvSpPr>
        <p:spPr>
          <a:xfrm>
            <a:off x="822960" y="4206240"/>
            <a:ext cx="96012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25</a:t>
            </a:r>
          </a:p>
        </p:txBody>
      </p:sp>
      <p:sp>
        <p:nvSpPr>
          <p:cNvPr id="301" name="Oval 31"/>
          <p:cNvSpPr/>
          <p:nvPr/>
        </p:nvSpPr>
        <p:spPr>
          <a:xfrm>
            <a:off x="1783079" y="4261103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TextBox 32"/>
          <p:cNvSpPr txBox="1"/>
          <p:nvPr/>
        </p:nvSpPr>
        <p:spPr>
          <a:xfrm>
            <a:off x="1783079" y="4306060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303" name="TextBox 33"/>
          <p:cNvSpPr txBox="1"/>
          <p:nvPr/>
        </p:nvSpPr>
        <p:spPr>
          <a:xfrm>
            <a:off x="2240279" y="4206240"/>
            <a:ext cx="603504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Interactive cinema pins</a:t>
            </a:r>
          </a:p>
        </p:txBody>
      </p:sp>
      <p:sp>
        <p:nvSpPr>
          <p:cNvPr id="304" name="TextBox 34"/>
          <p:cNvSpPr txBox="1"/>
          <p:nvPr/>
        </p:nvSpPr>
        <p:spPr>
          <a:xfrm>
            <a:off x="822960" y="4608576"/>
            <a:ext cx="96012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29</a:t>
            </a:r>
          </a:p>
        </p:txBody>
      </p:sp>
      <p:sp>
        <p:nvSpPr>
          <p:cNvPr id="305" name="Oval 35"/>
          <p:cNvSpPr/>
          <p:nvPr/>
        </p:nvSpPr>
        <p:spPr>
          <a:xfrm>
            <a:off x="1783079" y="4663440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TextBox 36"/>
          <p:cNvSpPr txBox="1"/>
          <p:nvPr/>
        </p:nvSpPr>
        <p:spPr>
          <a:xfrm>
            <a:off x="1783079" y="4708396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307" name="TextBox 37"/>
          <p:cNvSpPr txBox="1"/>
          <p:nvPr/>
        </p:nvSpPr>
        <p:spPr>
          <a:xfrm>
            <a:off x="2240279" y="4608576"/>
            <a:ext cx="603504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Concert / seminar booking</a:t>
            </a:r>
          </a:p>
        </p:txBody>
      </p:sp>
      <p:sp>
        <p:nvSpPr>
          <p:cNvPr id="308" name="TextBox 38"/>
          <p:cNvSpPr txBox="1"/>
          <p:nvPr/>
        </p:nvSpPr>
        <p:spPr>
          <a:xfrm>
            <a:off x="822960" y="5010911"/>
            <a:ext cx="960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Jun 30</a:t>
            </a:r>
          </a:p>
        </p:txBody>
      </p:sp>
      <p:sp>
        <p:nvSpPr>
          <p:cNvPr id="309" name="Oval 39"/>
          <p:cNvSpPr/>
          <p:nvPr/>
        </p:nvSpPr>
        <p:spPr>
          <a:xfrm>
            <a:off x="1783079" y="5065776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40"/>
          <p:cNvSpPr txBox="1"/>
          <p:nvPr/>
        </p:nvSpPr>
        <p:spPr>
          <a:xfrm>
            <a:off x="1783079" y="5110732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311" name="TextBox 41"/>
          <p:cNvSpPr txBox="1"/>
          <p:nvPr/>
        </p:nvSpPr>
        <p:spPr>
          <a:xfrm>
            <a:off x="2240279" y="5010911"/>
            <a:ext cx="603504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TicketPlease rebrand &amp; reviews</a:t>
            </a:r>
          </a:p>
        </p:txBody>
      </p:sp>
      <p:sp>
        <p:nvSpPr>
          <p:cNvPr id="312" name="TextBox 42"/>
          <p:cNvSpPr txBox="1"/>
          <p:nvPr/>
        </p:nvSpPr>
        <p:spPr>
          <a:xfrm>
            <a:off x="822960" y="5413247"/>
            <a:ext cx="96012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Jul 1</a:t>
            </a:r>
          </a:p>
        </p:txBody>
      </p:sp>
      <p:sp>
        <p:nvSpPr>
          <p:cNvPr id="313" name="Oval 43"/>
          <p:cNvSpPr/>
          <p:nvPr/>
        </p:nvSpPr>
        <p:spPr>
          <a:xfrm>
            <a:off x="1783079" y="5468111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44"/>
          <p:cNvSpPr txBox="1"/>
          <p:nvPr/>
        </p:nvSpPr>
        <p:spPr>
          <a:xfrm>
            <a:off x="1783079" y="5513068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15" name="TextBox 45"/>
          <p:cNvSpPr txBox="1"/>
          <p:nvPr/>
        </p:nvSpPr>
        <p:spPr>
          <a:xfrm>
            <a:off x="2240279" y="5413247"/>
            <a:ext cx="6035042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Booking-owned &amp; online reviews</a:t>
            </a:r>
          </a:p>
        </p:txBody>
      </p:sp>
      <p:sp>
        <p:nvSpPr>
          <p:cNvPr id="316" name="TextBox 46"/>
          <p:cNvSpPr txBox="1"/>
          <p:nvPr/>
        </p:nvSpPr>
        <p:spPr>
          <a:xfrm>
            <a:off x="822960" y="5815584"/>
            <a:ext cx="96012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Jul 3</a:t>
            </a:r>
          </a:p>
        </p:txBody>
      </p:sp>
      <p:sp>
        <p:nvSpPr>
          <p:cNvPr id="317" name="Oval 47"/>
          <p:cNvSpPr/>
          <p:nvPr/>
        </p:nvSpPr>
        <p:spPr>
          <a:xfrm>
            <a:off x="1783079" y="5870447"/>
            <a:ext cx="237745" cy="237745"/>
          </a:xfrm>
          <a:prstGeom prst="ellipse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TextBox 48"/>
          <p:cNvSpPr txBox="1"/>
          <p:nvPr/>
        </p:nvSpPr>
        <p:spPr>
          <a:xfrm>
            <a:off x="1783079" y="5915404"/>
            <a:ext cx="237744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08080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19" name="TextBox 49"/>
          <p:cNvSpPr txBox="1"/>
          <p:nvPr/>
        </p:nvSpPr>
        <p:spPr>
          <a:xfrm>
            <a:off x="2240279" y="5815584"/>
            <a:ext cx="6035042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Rating &amp; text consistency</a:t>
            </a:r>
          </a:p>
        </p:txBody>
      </p:sp>
      <p:pic>
        <p:nvPicPr>
          <p:cNvPr id="320" name="Picture 50" descr="Picture 5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6800" y="1600200"/>
            <a:ext cx="2321026" cy="4754880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TextBox 51"/>
          <p:cNvSpPr txBox="1"/>
          <p:nvPr/>
        </p:nvSpPr>
        <p:spPr>
          <a:xfrm>
            <a:off x="8412480" y="6409944"/>
            <a:ext cx="2869667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Release notes, shipped in-app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5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01  ·  JUN 15, 2026</a:t>
            </a:r>
          </a:p>
        </p:txBody>
      </p:sp>
      <p:sp>
        <p:nvSpPr>
          <p:cNvPr id="326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Initial UIKit / MVVM setup</a:t>
            </a:r>
          </a:p>
        </p:txBody>
      </p:sp>
      <p:sp>
        <p:nvSpPr>
          <p:cNvPr id="327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328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Project scaffold + storyboard tabs</a:t>
            </a:r>
          </a:p>
        </p:txBody>
      </p:sp>
      <p:sp>
        <p:nvSpPr>
          <p:cNvPr id="330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Models / View / ViewModel structure</a:t>
            </a:r>
          </a:p>
        </p:txBody>
      </p:sp>
      <p:sp>
        <p:nvSpPr>
          <p:cNvPr id="332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Outlets, actions, table views &amp; reusable cells</a:t>
            </a:r>
          </a:p>
        </p:txBody>
      </p:sp>
      <p:sp>
        <p:nvSpPr>
          <p:cNvPr id="334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First Movies, Bookings and Profile flows</a:t>
            </a:r>
          </a:p>
        </p:txBody>
      </p:sp>
      <p:sp>
        <p:nvSpPr>
          <p:cNvPr id="336" name="Rounded Rectangle 14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7" name="TextBox 15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338" name="TextBox 16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UIKit + MVVM foundations</a:t>
            </a:r>
          </a:p>
        </p:txBody>
      </p:sp>
      <p:pic>
        <p:nvPicPr>
          <p:cNvPr id="339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2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02  ·  JUN 17, 2026</a:t>
            </a:r>
          </a:p>
        </p:txBody>
      </p:sp>
      <p:sp>
        <p:nvSpPr>
          <p:cNvPr id="344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Booking, profile &amp; persistence</a:t>
            </a:r>
          </a:p>
        </p:txBody>
      </p:sp>
      <p:sp>
        <p:nvSpPr>
          <p:cNvPr id="345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346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Movie detail + assigned showings</a:t>
            </a:r>
          </a:p>
        </p:txBody>
      </p:sp>
      <p:sp>
        <p:nvSpPr>
          <p:cNvPr id="348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9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₱ pricing, seat selection, confirmation</a:t>
            </a:r>
          </a:p>
        </p:txBody>
      </p:sp>
      <p:sp>
        <p:nvSpPr>
          <p:cNvPr id="350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Account create / login / edit / logout + session restore</a:t>
            </a:r>
          </a:p>
        </p:txBody>
      </p:sp>
      <p:sp>
        <p:nvSpPr>
          <p:cNvPr id="352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3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Keychain passwords + FileManager JSON persistence</a:t>
            </a:r>
          </a:p>
        </p:txBody>
      </p:sp>
      <p:sp>
        <p:nvSpPr>
          <p:cNvPr id="354" name="Rounded Rectangle 14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TextBox 15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356" name="TextBox 16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Persistence &amp; security</a:t>
            </a:r>
          </a:p>
        </p:txBody>
      </p:sp>
      <p:pic>
        <p:nvPicPr>
          <p:cNvPr id="357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1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03  ·  JUN 19, 2026</a:t>
            </a:r>
          </a:p>
        </p:txBody>
      </p:sp>
      <p:sp>
        <p:nvSpPr>
          <p:cNvPr id="362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Movie data, posters, cinema rules &amp; seating</a:t>
            </a:r>
          </a:p>
        </p:txBody>
      </p:sp>
      <p:sp>
        <p:nvSpPr>
          <p:cNvPr id="363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364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Expanded movie data, ratings &amp; schedules</a:t>
            </a:r>
          </a:p>
        </p:txBody>
      </p:sp>
      <p:sp>
        <p:nvSpPr>
          <p:cNvPr id="366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7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Offline posters with URLSession / cache fallback</a:t>
            </a:r>
          </a:p>
        </p:txBody>
      </p:sp>
      <p:sp>
        <p:nvSpPr>
          <p:cNvPr id="368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Rating sort + predetermined showings</a:t>
            </a:r>
          </a:p>
        </p:txBody>
      </p:sp>
      <p:sp>
        <p:nvSpPr>
          <p:cNvPr id="370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1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 cinemas — standard ₱350 / VIP ₱550</a:t>
            </a:r>
          </a:p>
        </p:txBody>
      </p:sp>
      <p:sp>
        <p:nvSpPr>
          <p:cNvPr id="372" name="Rectangle 14"/>
          <p:cNvSpPr/>
          <p:nvPr/>
        </p:nvSpPr>
        <p:spPr>
          <a:xfrm>
            <a:off x="822960" y="4796028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TextBox 15"/>
          <p:cNvSpPr txBox="1"/>
          <p:nvPr/>
        </p:nvSpPr>
        <p:spPr>
          <a:xfrm>
            <a:off x="1115567" y="4700015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Varied seat layouts + booking-detail seat maps</a:t>
            </a:r>
          </a:p>
        </p:txBody>
      </p:sp>
      <p:sp>
        <p:nvSpPr>
          <p:cNvPr id="374" name="Rounded Rectangle 16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5" name="TextBox 17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376" name="TextBox 18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Networking + custom views</a:t>
            </a:r>
          </a:p>
        </p:txBody>
      </p:sp>
      <p:pic>
        <p:nvPicPr>
          <p:cNvPr id="377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0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04  ·  JUN 22, 2026</a:t>
            </a:r>
          </a:p>
        </p:txBody>
      </p:sp>
      <p:sp>
        <p:nvSpPr>
          <p:cNvPr id="382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Schedules, notifications &amp; architecture cleanup</a:t>
            </a:r>
          </a:p>
        </p:txBody>
      </p:sp>
      <p:sp>
        <p:nvSpPr>
          <p:cNvPr id="383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384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Nested one-week schedules + multiple showtimes</a:t>
            </a:r>
          </a:p>
        </p:txBody>
      </p:sp>
      <p:sp>
        <p:nvSpPr>
          <p:cNvPr id="386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7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Live current-date labels</a:t>
            </a:r>
          </a:p>
        </p:txBody>
      </p:sp>
      <p:sp>
        <p:nvSpPr>
          <p:cNvPr id="388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reminders via UserNotifications (no APNs or Apple Push Notifications)</a:t>
            </a:r>
          </a:p>
        </p:txBody>
      </p:sp>
      <p:sp>
        <p:nvSpPr>
          <p:cNvPr id="390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1" name="TextBox 13"/>
          <p:cNvSpPr txBox="1"/>
          <p:nvPr/>
        </p:nvSpPr>
        <p:spPr>
          <a:xfrm>
            <a:off x="1115567" y="4078223"/>
            <a:ext cx="6931153" cy="1197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Clean Architecture, protocol DI, use cases, AppFactory, DTOs (Data Transfer Object) &amp; mappers</a:t>
            </a:r>
          </a:p>
          <a:p>
            <a: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1400">
                <a:solidFill>
                  <a:srgbClr val="A6A59B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DTO: movieID: 3 · cinemaID: 4 · time: 10:30</a:t>
            </a:r>
          </a:p>
          <a:p>
            <a:pPr>
              <a:defRPr sz="1400">
                <a:solidFill>
                  <a:srgbClr val="A6A59B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Mapping: cinemaID: 4 → "Cinema 4 – South Hall, ₱350, South Hall address"</a:t>
            </a:r>
          </a:p>
        </p:txBody>
      </p:sp>
      <p:sp>
        <p:nvSpPr>
          <p:cNvPr id="392" name="Rounded Rectangle 14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3" name="TextBox 15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394" name="TextBox 16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Clean Architecture + DI by AppFactory</a:t>
            </a:r>
          </a:p>
        </p:txBody>
      </p:sp>
      <p:pic>
        <p:nvPicPr>
          <p:cNvPr id="395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05  ·  JUN 23, 2026</a:t>
            </a:r>
          </a:p>
        </p:txBody>
      </p:sp>
      <p:sp>
        <p:nvSpPr>
          <p:cNvPr id="400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Plist settings, seat database &amp; UI polish</a:t>
            </a:r>
          </a:p>
        </p:txBody>
      </p:sp>
      <p:sp>
        <p:nvSpPr>
          <p:cNvPr id="401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402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3" name="TextBox 7"/>
          <p:cNvSpPr txBox="1"/>
          <p:nvPr/>
        </p:nvSpPr>
        <p:spPr>
          <a:xfrm>
            <a:off x="1115567" y="2212848"/>
            <a:ext cx="6931153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Plist settings + Settings menu ; essentially like an XML for storing structured data as simple key pairs (key: booking -&gt; value: true)</a:t>
            </a:r>
          </a:p>
        </p:txBody>
      </p:sp>
      <p:sp>
        <p:nvSpPr>
          <p:cNvPr id="404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Plist-backed seat layouts</a:t>
            </a:r>
          </a:p>
        </p:txBody>
      </p:sp>
      <p:sp>
        <p:nvSpPr>
          <p:cNvPr id="406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7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Shared UI constants + font / warning polish</a:t>
            </a:r>
          </a:p>
        </p:txBody>
      </p:sp>
      <p:sp>
        <p:nvSpPr>
          <p:cNvPr id="408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Persisted reserved seats + local reset controls</a:t>
            </a:r>
          </a:p>
        </p:txBody>
      </p:sp>
      <p:sp>
        <p:nvSpPr>
          <p:cNvPr id="410" name="Rectangle 14"/>
          <p:cNvSpPr/>
          <p:nvPr/>
        </p:nvSpPr>
        <p:spPr>
          <a:xfrm>
            <a:off x="822960" y="4796028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1" name="TextBox 15"/>
          <p:cNvSpPr txBox="1"/>
          <p:nvPr/>
        </p:nvSpPr>
        <p:spPr>
          <a:xfrm>
            <a:off x="1115567" y="4700015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First unit tests</a:t>
            </a:r>
          </a:p>
        </p:txBody>
      </p:sp>
      <p:sp>
        <p:nvSpPr>
          <p:cNvPr id="412" name="Rounded Rectangle 16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3" name="TextBox 17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414" name="TextBox 18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Plist persistence + design tokens</a:t>
            </a:r>
          </a:p>
        </p:txBody>
      </p:sp>
      <p:pic>
        <p:nvPicPr>
          <p:cNvPr id="415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06  ·  JUN 24, 2026</a:t>
            </a:r>
          </a:p>
        </p:txBody>
      </p:sp>
      <p:sp>
        <p:nvSpPr>
          <p:cNvPr id="420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Showings expansion, maps, sharing &amp; launch cleanup</a:t>
            </a:r>
          </a:p>
        </p:txBody>
      </p:sp>
      <p:sp>
        <p:nvSpPr>
          <p:cNvPr id="421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422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3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Renamed Movies → Showings landing</a:t>
            </a:r>
          </a:p>
        </p:txBody>
      </p:sp>
      <p:sp>
        <p:nvSpPr>
          <p:cNvPr id="424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5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Concert &amp; Seminar JSON + browsing screens</a:t>
            </a:r>
          </a:p>
        </p:txBody>
      </p:sp>
      <p:sp>
        <p:nvSpPr>
          <p:cNvPr id="426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Locations MapKit pins + zoom controls</a:t>
            </a:r>
          </a:p>
        </p:txBody>
      </p:sp>
      <p:sp>
        <p:nvSpPr>
          <p:cNvPr id="428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9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Ticket sharing by account email</a:t>
            </a:r>
          </a:p>
        </p:txBody>
      </p:sp>
      <p:sp>
        <p:nvSpPr>
          <p:cNvPr id="430" name="Rectangle 14"/>
          <p:cNvSpPr/>
          <p:nvPr/>
        </p:nvSpPr>
        <p:spPr>
          <a:xfrm>
            <a:off x="822960" y="4796028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TextBox 15"/>
          <p:cNvSpPr txBox="1"/>
          <p:nvPr/>
        </p:nvSpPr>
        <p:spPr>
          <a:xfrm>
            <a:off x="1115567" y="4700015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Empty-launch data + separate runtime storage</a:t>
            </a:r>
          </a:p>
        </p:txBody>
      </p:sp>
      <p:sp>
        <p:nvSpPr>
          <p:cNvPr id="432" name="Rounded Rectangle 16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3" name="TextBox 17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434" name="TextBox 18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MapKit + content architecture</a:t>
            </a:r>
          </a:p>
        </p:txBody>
      </p:sp>
      <p:pic>
        <p:nvPicPr>
          <p:cNvPr id="435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07  ·  JUN 25, 2026</a:t>
            </a:r>
          </a:p>
        </p:txBody>
      </p:sp>
      <p:sp>
        <p:nvSpPr>
          <p:cNvPr id="440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Interactive cinema pins &amp; showtime shortcuts</a:t>
            </a:r>
          </a:p>
        </p:txBody>
      </p:sp>
      <p:sp>
        <p:nvSpPr>
          <p:cNvPr id="441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442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MapKit pin callouts + Cinema Details</a:t>
            </a:r>
          </a:p>
        </p:txBody>
      </p:sp>
      <p:sp>
        <p:nvSpPr>
          <p:cNvPr id="444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Grouped assigned showtimes</a:t>
            </a:r>
          </a:p>
        </p:txBody>
      </p:sp>
      <p:sp>
        <p:nvSpPr>
          <p:cNvPr id="446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7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Tappable showtime chips preselect date / time</a:t>
            </a:r>
          </a:p>
        </p:txBody>
      </p:sp>
      <p:sp>
        <p:nvSpPr>
          <p:cNvPr id="448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9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Apple Maps pins</a:t>
            </a:r>
          </a:p>
        </p:txBody>
      </p:sp>
      <p:sp>
        <p:nvSpPr>
          <p:cNvPr id="450" name="Rectangle 14"/>
          <p:cNvSpPr/>
          <p:nvPr/>
        </p:nvSpPr>
        <p:spPr>
          <a:xfrm>
            <a:off x="822960" y="4796028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1" name="TextBox 15"/>
          <p:cNvSpPr txBox="1"/>
          <p:nvPr/>
        </p:nvSpPr>
        <p:spPr>
          <a:xfrm>
            <a:off x="1115567" y="4700015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Assigned-cinema-only booking</a:t>
            </a:r>
          </a:p>
        </p:txBody>
      </p:sp>
      <p:sp>
        <p:nvSpPr>
          <p:cNvPr id="452" name="Rounded Rectangle 16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TextBox 17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454" name="TextBox 18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MapKit interaction + navigation</a:t>
            </a:r>
          </a:p>
        </p:txBody>
      </p:sp>
      <p:pic>
        <p:nvPicPr>
          <p:cNvPr id="455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08  ·  JUN 29, 2026</a:t>
            </a:r>
          </a:p>
        </p:txBody>
      </p:sp>
      <p:sp>
        <p:nvSpPr>
          <p:cNvPr id="460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Concert / seminar booking &amp; feature separation</a:t>
            </a:r>
          </a:p>
        </p:txBody>
      </p:sp>
      <p:sp>
        <p:nvSpPr>
          <p:cNvPr id="461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462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Separated Concert &amp; Seminar models / screens</a:t>
            </a:r>
          </a:p>
        </p:txBody>
      </p:sp>
      <p:sp>
        <p:nvSpPr>
          <p:cNvPr id="464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5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Search + venue filters</a:t>
            </a:r>
          </a:p>
        </p:txBody>
      </p:sp>
      <p:sp>
        <p:nvSpPr>
          <p:cNvPr id="466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Coordinate-backed venues + live schedules</a:t>
            </a:r>
          </a:p>
        </p:txBody>
      </p:sp>
      <p:sp>
        <p:nvSpPr>
          <p:cNvPr id="468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9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Quantity booking, reminders, sharing, cancellation, history</a:t>
            </a:r>
          </a:p>
        </p:txBody>
      </p:sp>
      <p:sp>
        <p:nvSpPr>
          <p:cNvPr id="470" name="Rectangle 14"/>
          <p:cNvSpPr/>
          <p:nvPr/>
        </p:nvSpPr>
        <p:spPr>
          <a:xfrm>
            <a:off x="822960" y="4796028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15"/>
          <p:cNvSpPr txBox="1"/>
          <p:nvPr/>
        </p:nvSpPr>
        <p:spPr>
          <a:xfrm>
            <a:off x="1115567" y="4700015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 icon + expanded tests</a:t>
            </a:r>
          </a:p>
        </p:txBody>
      </p:sp>
      <p:sp>
        <p:nvSpPr>
          <p:cNvPr id="472" name="Rounded Rectangle 16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3" name="TextBox 17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474" name="TextBox 18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 modularization + reuse</a:t>
            </a:r>
          </a:p>
        </p:txBody>
      </p:sp>
      <p:pic>
        <p:nvPicPr>
          <p:cNvPr id="475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09  ·  JUN 30, 2026</a:t>
            </a:r>
          </a:p>
        </p:txBody>
      </p:sp>
      <p:sp>
        <p:nvSpPr>
          <p:cNvPr id="480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TicketPlease rebrand &amp; review system</a:t>
            </a:r>
          </a:p>
        </p:txBody>
      </p:sp>
      <p:sp>
        <p:nvSpPr>
          <p:cNvPr id="481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482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3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Applied TicketPlease brand + TP booking IDs</a:t>
            </a:r>
          </a:p>
        </p:txBody>
      </p:sp>
      <p:sp>
        <p:nvSpPr>
          <p:cNvPr id="484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Standardized list controls across categories</a:t>
            </a:r>
          </a:p>
        </p:txBody>
      </p:sp>
      <p:sp>
        <p:nvSpPr>
          <p:cNvPr id="486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7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Account-owned JSON reviews replace bundled data</a:t>
            </a:r>
          </a:p>
        </p:txBody>
      </p:sp>
      <p:sp>
        <p:nvSpPr>
          <p:cNvPr id="488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9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Booking-Detail review eligibility + one-review rules</a:t>
            </a:r>
          </a:p>
        </p:txBody>
      </p:sp>
      <p:sp>
        <p:nvSpPr>
          <p:cNvPr id="490" name="Rectangle 14"/>
          <p:cNvSpPr/>
          <p:nvPr/>
        </p:nvSpPr>
        <p:spPr>
          <a:xfrm>
            <a:off x="822960" y="4796028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1" name="TextBox 15"/>
          <p:cNvSpPr txBox="1"/>
          <p:nvPr/>
        </p:nvSpPr>
        <p:spPr>
          <a:xfrm>
            <a:off x="1115567" y="4700015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Developer Mode isolation + organized LocalContent</a:t>
            </a:r>
          </a:p>
        </p:txBody>
      </p:sp>
      <p:sp>
        <p:nvSpPr>
          <p:cNvPr id="492" name="Rounded Rectangle 16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3" name="TextBox 17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494" name="TextBox 18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ownership + release prep</a:t>
            </a:r>
          </a:p>
        </p:txBody>
      </p:sp>
      <p:pic>
        <p:nvPicPr>
          <p:cNvPr id="495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10  ·  JUL 1, 2026</a:t>
            </a:r>
          </a:p>
        </p:txBody>
      </p:sp>
      <p:sp>
        <p:nvSpPr>
          <p:cNvPr id="500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Booking-owned reviews &amp; online separation</a:t>
            </a:r>
          </a:p>
        </p:txBody>
      </p:sp>
      <p:sp>
        <p:nvSpPr>
          <p:cNvPr id="501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502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3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Showing reviews read-only; writing moved to Booking Detail</a:t>
            </a:r>
          </a:p>
        </p:txBody>
      </p:sp>
      <p:sp>
        <p:nvSpPr>
          <p:cNvPr id="504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5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Unlimited review testing in Developer Mode</a:t>
            </a:r>
          </a:p>
        </p:txBody>
      </p:sp>
      <p:sp>
        <p:nvSpPr>
          <p:cNvPr id="506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7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Separated TicketPlease vs TMDB online reviews</a:t>
            </a:r>
          </a:p>
        </p:txBody>
      </p:sp>
      <p:sp>
        <p:nvSpPr>
          <p:cNvPr id="508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9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Local-only TMDB token + documented production swap</a:t>
            </a:r>
          </a:p>
        </p:txBody>
      </p:sp>
      <p:sp>
        <p:nvSpPr>
          <p:cNvPr id="510" name="Rectangle 14"/>
          <p:cNvSpPr/>
          <p:nvPr/>
        </p:nvSpPr>
        <p:spPr>
          <a:xfrm>
            <a:off x="822960" y="4796028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1" name="TextBox 15"/>
          <p:cNvSpPr txBox="1"/>
          <p:nvPr/>
        </p:nvSpPr>
        <p:spPr>
          <a:xfrm>
            <a:off x="1115567" y="4700015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Versioned LocalContent + sort-direction arrows</a:t>
            </a:r>
          </a:p>
        </p:txBody>
      </p:sp>
      <p:sp>
        <p:nvSpPr>
          <p:cNvPr id="512" name="Rounded Rectangle 16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3" name="TextBox 17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514" name="TextBox 18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API integration + credential hygiene</a:t>
            </a:r>
          </a:p>
        </p:txBody>
      </p:sp>
      <p:pic>
        <p:nvPicPr>
          <p:cNvPr id="515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MILESTONE 11  ·  JUL 3, 2026</a:t>
            </a:r>
          </a:p>
        </p:txBody>
      </p:sp>
      <p:sp>
        <p:nvSpPr>
          <p:cNvPr id="520" name="TextBox 4"/>
          <p:cNvSpPr txBox="1"/>
          <p:nvPr/>
        </p:nvSpPr>
        <p:spPr>
          <a:xfrm>
            <a:off x="1024127" y="786383"/>
            <a:ext cx="10607042" cy="357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Rating &amp; showing text consistency</a:t>
            </a:r>
          </a:p>
        </p:txBody>
      </p:sp>
      <p:sp>
        <p:nvSpPr>
          <p:cNvPr id="521" name="TextBox 5"/>
          <p:cNvSpPr txBox="1"/>
          <p:nvPr/>
        </p:nvSpPr>
        <p:spPr>
          <a:xfrm>
            <a:off x="822960" y="1755648"/>
            <a:ext cx="73152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shipped</a:t>
            </a:r>
          </a:p>
        </p:txBody>
      </p:sp>
      <p:sp>
        <p:nvSpPr>
          <p:cNvPr id="522" name="Rectangle 6"/>
          <p:cNvSpPr/>
          <p:nvPr/>
        </p:nvSpPr>
        <p:spPr>
          <a:xfrm>
            <a:off x="822960" y="23088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3" name="TextBox 7"/>
          <p:cNvSpPr txBox="1"/>
          <p:nvPr/>
        </p:nvSpPr>
        <p:spPr>
          <a:xfrm>
            <a:off x="1115567" y="2212848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Shared Rating &amp; Showing metadata formatters</a:t>
            </a:r>
          </a:p>
        </p:txBody>
      </p:sp>
      <p:sp>
        <p:nvSpPr>
          <p:cNvPr id="524" name="Rectangle 8"/>
          <p:cNvSpPr/>
          <p:nvPr/>
        </p:nvSpPr>
        <p:spPr>
          <a:xfrm>
            <a:off x="822960" y="293065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5" name="TextBox 9"/>
          <p:cNvSpPr txBox="1"/>
          <p:nvPr/>
        </p:nvSpPr>
        <p:spPr>
          <a:xfrm>
            <a:off x="1115567" y="2834639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Standardized 4.7 / 5.0 rating text everywhere</a:t>
            </a:r>
          </a:p>
        </p:txBody>
      </p:sp>
      <p:sp>
        <p:nvSpPr>
          <p:cNvPr id="526" name="Rectangle 10"/>
          <p:cNvSpPr/>
          <p:nvPr/>
        </p:nvSpPr>
        <p:spPr>
          <a:xfrm>
            <a:off x="822960" y="355244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7" name="TextBox 11"/>
          <p:cNvSpPr txBox="1"/>
          <p:nvPr/>
        </p:nvSpPr>
        <p:spPr>
          <a:xfrm>
            <a:off x="1115567" y="3456432"/>
            <a:ext cx="6931153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Numerical review input + synced value label</a:t>
            </a:r>
          </a:p>
        </p:txBody>
      </p:sp>
      <p:sp>
        <p:nvSpPr>
          <p:cNvPr id="528" name="Rectangle 12"/>
          <p:cNvSpPr/>
          <p:nvPr/>
        </p:nvSpPr>
        <p:spPr>
          <a:xfrm>
            <a:off x="822960" y="41742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29" name="TextBox 13"/>
          <p:cNvSpPr txBox="1"/>
          <p:nvPr/>
        </p:nvSpPr>
        <p:spPr>
          <a:xfrm>
            <a:off x="1115567" y="4078223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Normalized durations (2h 32m) + capitalization</a:t>
            </a:r>
          </a:p>
        </p:txBody>
      </p:sp>
      <p:sp>
        <p:nvSpPr>
          <p:cNvPr id="530" name="Rectangle 14"/>
          <p:cNvSpPr/>
          <p:nvPr/>
        </p:nvSpPr>
        <p:spPr>
          <a:xfrm>
            <a:off x="822960" y="4796028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1" name="TextBox 15"/>
          <p:cNvSpPr txBox="1"/>
          <p:nvPr/>
        </p:nvSpPr>
        <p:spPr>
          <a:xfrm>
            <a:off x="1115567" y="4700015"/>
            <a:ext cx="6931153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Reused metadata across lists, details &amp; bookings</a:t>
            </a:r>
          </a:p>
        </p:txBody>
      </p:sp>
      <p:sp>
        <p:nvSpPr>
          <p:cNvPr id="532" name="Rounded Rectangle 16"/>
          <p:cNvSpPr/>
          <p:nvPr/>
        </p:nvSpPr>
        <p:spPr>
          <a:xfrm>
            <a:off x="822960" y="5806440"/>
            <a:ext cx="6949441" cy="658369"/>
          </a:xfrm>
          <a:prstGeom prst="roundRect">
            <a:avLst>
              <a:gd name="adj" fmla="val 10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3" name="TextBox 17"/>
          <p:cNvSpPr txBox="1"/>
          <p:nvPr/>
        </p:nvSpPr>
        <p:spPr>
          <a:xfrm>
            <a:off x="1051560" y="6061709"/>
            <a:ext cx="2743201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 FOCUS</a:t>
            </a:r>
          </a:p>
        </p:txBody>
      </p:sp>
      <p:sp>
        <p:nvSpPr>
          <p:cNvPr id="534" name="TextBox 18"/>
          <p:cNvSpPr txBox="1"/>
          <p:nvPr/>
        </p:nvSpPr>
        <p:spPr>
          <a:xfrm>
            <a:off x="2971800" y="6030790"/>
            <a:ext cx="466344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Consistency &amp; polish</a:t>
            </a:r>
          </a:p>
        </p:txBody>
      </p:sp>
      <p:pic>
        <p:nvPicPr>
          <p:cNvPr id="535" name="Picture 19" descr="Picture 1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32519" y="1371600"/>
            <a:ext cx="2477250" cy="50749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 JOURNEY</a:t>
            </a:r>
          </a:p>
        </p:txBody>
      </p:sp>
      <p:sp>
        <p:nvSpPr>
          <p:cNvPr id="540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booking flow, end to end</a:t>
            </a:r>
          </a:p>
        </p:txBody>
      </p:sp>
      <p:pic>
        <p:nvPicPr>
          <p:cNvPr id="541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8706" y="1965960"/>
            <a:ext cx="1740771" cy="3566160"/>
          </a:xfrm>
          <a:prstGeom prst="rect">
            <a:avLst/>
          </a:prstGeom>
          <a:ln w="12700">
            <a:miter lim="400000"/>
          </a:ln>
        </p:spPr>
      </p:pic>
      <p:sp>
        <p:nvSpPr>
          <p:cNvPr id="542" name="TextBox 6"/>
          <p:cNvSpPr txBox="1"/>
          <p:nvPr/>
        </p:nvSpPr>
        <p:spPr>
          <a:xfrm>
            <a:off x="884387" y="5586983"/>
            <a:ext cx="228941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Detail</a:t>
            </a:r>
          </a:p>
        </p:txBody>
      </p:sp>
      <p:sp>
        <p:nvSpPr>
          <p:cNvPr id="543" name="TextBox 7"/>
          <p:cNvSpPr txBox="1"/>
          <p:nvPr/>
        </p:nvSpPr>
        <p:spPr>
          <a:xfrm>
            <a:off x="2881189" y="3557590"/>
            <a:ext cx="329185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26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pic>
        <p:nvPicPr>
          <p:cNvPr id="544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92085" y="1965960"/>
            <a:ext cx="1740770" cy="3566160"/>
          </a:xfrm>
          <a:prstGeom prst="rect">
            <a:avLst/>
          </a:prstGeom>
          <a:ln w="12700">
            <a:miter lim="400000"/>
          </a:ln>
        </p:spPr>
      </p:pic>
      <p:sp>
        <p:nvSpPr>
          <p:cNvPr id="545" name="TextBox 9"/>
          <p:cNvSpPr txBox="1"/>
          <p:nvPr/>
        </p:nvSpPr>
        <p:spPr>
          <a:xfrm>
            <a:off x="2917764" y="5586983"/>
            <a:ext cx="228941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Schedule</a:t>
            </a:r>
          </a:p>
        </p:txBody>
      </p:sp>
      <p:sp>
        <p:nvSpPr>
          <p:cNvPr id="546" name="TextBox 10"/>
          <p:cNvSpPr txBox="1"/>
          <p:nvPr/>
        </p:nvSpPr>
        <p:spPr>
          <a:xfrm>
            <a:off x="4914565" y="3557590"/>
            <a:ext cx="329185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26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pic>
        <p:nvPicPr>
          <p:cNvPr id="547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225462" y="1965960"/>
            <a:ext cx="1740770" cy="3566160"/>
          </a:xfrm>
          <a:prstGeom prst="rect">
            <a:avLst/>
          </a:prstGeom>
          <a:ln w="12700">
            <a:miter lim="400000"/>
          </a:ln>
        </p:spPr>
      </p:pic>
      <p:sp>
        <p:nvSpPr>
          <p:cNvPr id="548" name="TextBox 12"/>
          <p:cNvSpPr txBox="1"/>
          <p:nvPr/>
        </p:nvSpPr>
        <p:spPr>
          <a:xfrm>
            <a:off x="4951141" y="5586983"/>
            <a:ext cx="2289411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Seats</a:t>
            </a:r>
          </a:p>
        </p:txBody>
      </p:sp>
      <p:sp>
        <p:nvSpPr>
          <p:cNvPr id="549" name="TextBox 13"/>
          <p:cNvSpPr txBox="1"/>
          <p:nvPr/>
        </p:nvSpPr>
        <p:spPr>
          <a:xfrm>
            <a:off x="6947944" y="3557590"/>
            <a:ext cx="329185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26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pic>
        <p:nvPicPr>
          <p:cNvPr id="550" name="Picture 14" descr="Picture 1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258839" y="1965960"/>
            <a:ext cx="1740771" cy="3566160"/>
          </a:xfrm>
          <a:prstGeom prst="rect">
            <a:avLst/>
          </a:prstGeom>
          <a:ln w="12700">
            <a:miter lim="400000"/>
          </a:ln>
        </p:spPr>
      </p:pic>
      <p:sp>
        <p:nvSpPr>
          <p:cNvPr id="551" name="TextBox 15"/>
          <p:cNvSpPr txBox="1"/>
          <p:nvPr/>
        </p:nvSpPr>
        <p:spPr>
          <a:xfrm>
            <a:off x="6984520" y="5586983"/>
            <a:ext cx="228941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552" name="TextBox 16"/>
          <p:cNvSpPr txBox="1"/>
          <p:nvPr/>
        </p:nvSpPr>
        <p:spPr>
          <a:xfrm>
            <a:off x="8981322" y="3557590"/>
            <a:ext cx="329185" cy="382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spcBef>
                <a:spcPts val="400"/>
              </a:spcBef>
              <a:defRPr b="1" sz="26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›</a:t>
            </a:r>
          </a:p>
        </p:txBody>
      </p:sp>
      <p:pic>
        <p:nvPicPr>
          <p:cNvPr id="553" name="Picture 17" descr="Picture 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292218" y="1965960"/>
            <a:ext cx="1740770" cy="3566160"/>
          </a:xfrm>
          <a:prstGeom prst="rect">
            <a:avLst/>
          </a:prstGeom>
          <a:ln w="12700">
            <a:miter lim="400000"/>
          </a:ln>
        </p:spPr>
      </p:pic>
      <p:sp>
        <p:nvSpPr>
          <p:cNvPr id="554" name="TextBox 18"/>
          <p:cNvSpPr txBox="1"/>
          <p:nvPr/>
        </p:nvSpPr>
        <p:spPr>
          <a:xfrm>
            <a:off x="9017897" y="5586983"/>
            <a:ext cx="228941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Confirmed</a:t>
            </a:r>
          </a:p>
        </p:txBody>
      </p:sp>
      <p:sp>
        <p:nvSpPr>
          <p:cNvPr id="555" name="TextBox 19"/>
          <p:cNvSpPr txBox="1"/>
          <p:nvPr/>
        </p:nvSpPr>
        <p:spPr>
          <a:xfrm>
            <a:off x="822960" y="5989320"/>
            <a:ext cx="10515601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5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Five taps from browsing to a confirmed, locally-persisted ticket with a TP booking ID.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5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 JOURNEY</a:t>
            </a:r>
          </a:p>
        </p:txBody>
      </p:sp>
      <p:sp>
        <p:nvSpPr>
          <p:cNvPr id="560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Two booking modes, one engine</a:t>
            </a:r>
          </a:p>
        </p:txBody>
      </p:sp>
      <p:sp>
        <p:nvSpPr>
          <p:cNvPr id="561" name="Rounded Rectangle 5"/>
          <p:cNvSpPr/>
          <p:nvPr/>
        </p:nvSpPr>
        <p:spPr>
          <a:xfrm>
            <a:off x="822960" y="1783079"/>
            <a:ext cx="5074921" cy="4480561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2" name="Rounded Rectangle 6"/>
          <p:cNvSpPr/>
          <p:nvPr/>
        </p:nvSpPr>
        <p:spPr>
          <a:xfrm>
            <a:off x="6309359" y="1783079"/>
            <a:ext cx="5074921" cy="4480561"/>
          </a:xfrm>
          <a:prstGeom prst="roundRect">
            <a:avLst>
              <a:gd name="adj" fmla="val 5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63" name="TextBox 7"/>
          <p:cNvSpPr txBox="1"/>
          <p:nvPr/>
        </p:nvSpPr>
        <p:spPr>
          <a:xfrm>
            <a:off x="822960" y="1938527"/>
            <a:ext cx="507492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MOVIES — seat map</a:t>
            </a:r>
          </a:p>
        </p:txBody>
      </p:sp>
      <p:sp>
        <p:nvSpPr>
          <p:cNvPr id="564" name="TextBox 8"/>
          <p:cNvSpPr txBox="1"/>
          <p:nvPr/>
        </p:nvSpPr>
        <p:spPr>
          <a:xfrm>
            <a:off x="6309359" y="1938527"/>
            <a:ext cx="5074921" cy="209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CONCERTS &amp; SEMINARS — quantity</a:t>
            </a:r>
          </a:p>
        </p:txBody>
      </p:sp>
      <p:pic>
        <p:nvPicPr>
          <p:cNvPr id="565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78876" y="2377438"/>
            <a:ext cx="1763087" cy="3611881"/>
          </a:xfrm>
          <a:prstGeom prst="rect">
            <a:avLst/>
          </a:prstGeom>
          <a:ln w="12700">
            <a:miter lim="400000"/>
          </a:ln>
        </p:spPr>
      </p:pic>
      <p:pic>
        <p:nvPicPr>
          <p:cNvPr id="566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965275" y="2377438"/>
            <a:ext cx="1763088" cy="3611881"/>
          </a:xfrm>
          <a:prstGeom prst="rect">
            <a:avLst/>
          </a:prstGeom>
          <a:ln w="12700">
            <a:miter lim="400000"/>
          </a:ln>
        </p:spPr>
      </p:pic>
      <p:sp>
        <p:nvSpPr>
          <p:cNvPr id="567" name="TextBox 11"/>
          <p:cNvSpPr txBox="1"/>
          <p:nvPr/>
        </p:nvSpPr>
        <p:spPr>
          <a:xfrm>
            <a:off x="822960" y="6355079"/>
            <a:ext cx="1051560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3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Cinema-specific seat selection vs. quantity + venue map — the same reservation core, two front-ends.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0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1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 JOURNEY</a:t>
            </a:r>
          </a:p>
        </p:txBody>
      </p:sp>
      <p:sp>
        <p:nvSpPr>
          <p:cNvPr id="572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Real bundled content, not placeholders</a:t>
            </a:r>
          </a:p>
        </p:txBody>
      </p:sp>
      <p:pic>
        <p:nvPicPr>
          <p:cNvPr id="573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8047" y="1965960"/>
            <a:ext cx="10515601" cy="2507981"/>
          </a:xfrm>
          <a:prstGeom prst="rect">
            <a:avLst/>
          </a:prstGeom>
          <a:ln w="12700">
            <a:miter lim="400000"/>
          </a:ln>
        </p:spPr>
      </p:pic>
      <p:sp>
        <p:nvSpPr>
          <p:cNvPr id="574" name="TextBox 6"/>
          <p:cNvSpPr txBox="1"/>
          <p:nvPr/>
        </p:nvSpPr>
        <p:spPr>
          <a:xfrm>
            <a:off x="822960" y="5074920"/>
            <a:ext cx="10515601" cy="425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b="1"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10 movie posters ship inside the app bundle. </a:t>
            </a:r>
            <a:r>
              <a:rPr b="0">
                <a:solidFill>
                  <a:srgbClr val="A6A8B0"/>
                </a:solidFill>
              </a:rPr>
              <a:t>A three-tier image pipeline serves them: bundled asset → FileManager cache → URLSession download.</a:t>
            </a:r>
          </a:p>
        </p:txBody>
      </p:sp>
      <p:sp>
        <p:nvSpPr>
          <p:cNvPr id="575" name="TextBox 7"/>
          <p:cNvSpPr txBox="1"/>
          <p:nvPr/>
        </p:nvSpPr>
        <p:spPr>
          <a:xfrm>
            <a:off x="822960" y="5715000"/>
            <a:ext cx="105156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4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Concerts and seminars carry their own venues, coordinates, schedules and metadata — all authored as structured JSON.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Rectangle 1"/>
          <p:cNvSpPr/>
          <p:nvPr/>
        </p:nvSpPr>
        <p:spPr>
          <a:xfrm>
            <a:off x="-1" y="0"/>
            <a:ext cx="4023361" cy="6858000"/>
          </a:xfrm>
          <a:prstGeom prst="rect">
            <a:avLst/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8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9" name="TextBox 3"/>
          <p:cNvSpPr txBox="1"/>
          <p:nvPr/>
        </p:nvSpPr>
        <p:spPr>
          <a:xfrm>
            <a:off x="822959" y="2148839"/>
            <a:ext cx="2926082" cy="1702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580" name="Rectangle 4"/>
          <p:cNvSpPr/>
          <p:nvPr/>
        </p:nvSpPr>
        <p:spPr>
          <a:xfrm>
            <a:off x="4480559" y="2743200"/>
            <a:ext cx="82297" cy="1371600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1" name="TextBox 5"/>
          <p:cNvSpPr txBox="1"/>
          <p:nvPr/>
        </p:nvSpPr>
        <p:spPr>
          <a:xfrm>
            <a:off x="4754879" y="3060119"/>
            <a:ext cx="676656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4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Feature Deep-Dives</a:t>
            </a:r>
          </a:p>
        </p:txBody>
      </p:sp>
      <p:sp>
        <p:nvSpPr>
          <p:cNvPr id="582" name="TextBox 6"/>
          <p:cNvSpPr txBox="1"/>
          <p:nvPr/>
        </p:nvSpPr>
        <p:spPr>
          <a:xfrm>
            <a:off x="4754879" y="3977638"/>
            <a:ext cx="67665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7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How the marquee features work</a:t>
            </a:r>
          </a:p>
        </p:txBody>
      </p:sp>
      <p:sp>
        <p:nvSpPr>
          <p:cNvPr id="583" name="TextBox 7"/>
          <p:cNvSpPr txBox="1"/>
          <p:nvPr/>
        </p:nvSpPr>
        <p:spPr>
          <a:xfrm>
            <a:off x="822959" y="6126479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TICKETPLEASE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6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7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DEEP-DIVE · BOOKING</a:t>
            </a:r>
          </a:p>
        </p:txBody>
      </p:sp>
      <p:sp>
        <p:nvSpPr>
          <p:cNvPr id="588" name="TextBox 4"/>
          <p:cNvSpPr txBox="1"/>
          <p:nvPr/>
        </p:nvSpPr>
        <p:spPr>
          <a:xfrm>
            <a:off x="1024127" y="786383"/>
            <a:ext cx="10607042" cy="382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Booking &amp; cinema-specific seat maps</a:t>
            </a:r>
          </a:p>
        </p:txBody>
      </p:sp>
      <p:sp>
        <p:nvSpPr>
          <p:cNvPr id="589" name="Rectangle 5"/>
          <p:cNvSpPr/>
          <p:nvPr/>
        </p:nvSpPr>
        <p:spPr>
          <a:xfrm>
            <a:off x="822960" y="1915667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TextBox 6"/>
          <p:cNvSpPr txBox="1"/>
          <p:nvPr/>
        </p:nvSpPr>
        <p:spPr>
          <a:xfrm>
            <a:off x="1115567" y="1819655"/>
            <a:ext cx="6291074" cy="429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SeatMapView </a:t>
            </a:r>
            <a:r>
              <a:rPr b="0">
                <a:solidFill>
                  <a:srgbClr val="F3F3F5"/>
                </a:solidFill>
              </a:rPr>
              <a:t>builds vertical rows of horizontal seat stacks with explicit aisle gaps.</a:t>
            </a:r>
          </a:p>
        </p:txBody>
      </p:sp>
      <p:sp>
        <p:nvSpPr>
          <p:cNvPr id="591" name="Rectangle 7"/>
          <p:cNvSpPr/>
          <p:nvPr/>
        </p:nvSpPr>
        <p:spPr>
          <a:xfrm>
            <a:off x="822960" y="2665476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2" name="TextBox 8"/>
          <p:cNvSpPr txBox="1"/>
          <p:nvPr/>
        </p:nvSpPr>
        <p:spPr>
          <a:xfrm>
            <a:off x="1115567" y="2569464"/>
            <a:ext cx="6291074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Reserved states persist. </a:t>
            </a:r>
            <a:r>
              <a:rPr b="0">
                <a:solidFill>
                  <a:srgbClr val="F3F3F5"/>
                </a:solidFill>
              </a:rPr>
              <a:t>Confirmed seats are stored and blocked from re-selection.</a:t>
            </a:r>
          </a:p>
        </p:txBody>
      </p:sp>
      <p:sp>
        <p:nvSpPr>
          <p:cNvPr id="593" name="Rectangle 9"/>
          <p:cNvSpPr/>
          <p:nvPr/>
        </p:nvSpPr>
        <p:spPr>
          <a:xfrm>
            <a:off x="822960" y="341528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4" name="TextBox 10"/>
          <p:cNvSpPr txBox="1"/>
          <p:nvPr/>
        </p:nvSpPr>
        <p:spPr>
          <a:xfrm>
            <a:off x="1115567" y="3319271"/>
            <a:ext cx="6291074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Events differ by design. </a:t>
            </a:r>
            <a:r>
              <a:rPr b="0">
                <a:solidFill>
                  <a:srgbClr val="F3F3F5"/>
                </a:solidFill>
              </a:rPr>
              <a:t>Concerts &amp; seminars book by ticket quantity, not seats.</a:t>
            </a:r>
          </a:p>
        </p:txBody>
      </p:sp>
      <p:sp>
        <p:nvSpPr>
          <p:cNvPr id="595" name="Rectangle 11"/>
          <p:cNvSpPr/>
          <p:nvPr/>
        </p:nvSpPr>
        <p:spPr>
          <a:xfrm>
            <a:off x="822960" y="416509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6" name="TextBox 12"/>
          <p:cNvSpPr txBox="1"/>
          <p:nvPr/>
        </p:nvSpPr>
        <p:spPr>
          <a:xfrm>
            <a:off x="1115567" y="4069079"/>
            <a:ext cx="6291074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Traceable orders. </a:t>
            </a:r>
            <a:r>
              <a:rPr b="0">
                <a:solidFill>
                  <a:srgbClr val="F3F3F5"/>
                </a:solidFill>
              </a:rPr>
              <a:t>Every booking gets a “TP” ID, summary, confirmation &amp; history.</a:t>
            </a:r>
          </a:p>
        </p:txBody>
      </p:sp>
      <p:sp>
        <p:nvSpPr>
          <p:cNvPr id="597" name="Rectangle 13"/>
          <p:cNvSpPr/>
          <p:nvPr/>
        </p:nvSpPr>
        <p:spPr>
          <a:xfrm>
            <a:off x="822960" y="491490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8" name="TextBox 14"/>
          <p:cNvSpPr txBox="1"/>
          <p:nvPr/>
        </p:nvSpPr>
        <p:spPr>
          <a:xfrm>
            <a:off x="1115567" y="4818888"/>
            <a:ext cx="6291074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Peso pricing. </a:t>
            </a:r>
            <a:r>
              <a:rPr b="0">
                <a:solidFill>
                  <a:srgbClr val="F3F3F5"/>
                </a:solidFill>
              </a:rPr>
              <a:t>6 standard cinemas at ₱350, 2 VIP cinemas at ₱550.</a:t>
            </a:r>
          </a:p>
        </p:txBody>
      </p:sp>
      <p:sp>
        <p:nvSpPr>
          <p:cNvPr id="599" name="Rounded Rectangle 15"/>
          <p:cNvSpPr/>
          <p:nvPr/>
        </p:nvSpPr>
        <p:spPr>
          <a:xfrm>
            <a:off x="822960" y="5806440"/>
            <a:ext cx="6583681" cy="685801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0" name="Rectangle 16"/>
          <p:cNvSpPr/>
          <p:nvPr/>
        </p:nvSpPr>
        <p:spPr>
          <a:xfrm>
            <a:off x="822960" y="5806440"/>
            <a:ext cx="82297" cy="685801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1" name="TextBox 17"/>
          <p:cNvSpPr txBox="1"/>
          <p:nvPr/>
        </p:nvSpPr>
        <p:spPr>
          <a:xfrm>
            <a:off x="1097280" y="5961540"/>
            <a:ext cx="6126480" cy="37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Why it matters:  </a:t>
            </a:r>
            <a:r>
              <a:rPr b="0">
                <a:solidFill>
                  <a:srgbClr val="F3F3F5"/>
                </a:solidFill>
              </a:rPr>
              <a:t>The same engine models any seat-, slot-, or quantity-based reservation.</a:t>
            </a:r>
          </a:p>
        </p:txBody>
      </p:sp>
      <p:pic>
        <p:nvPicPr>
          <p:cNvPr id="602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0" y="1371600"/>
            <a:ext cx="1852358" cy="37947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3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921240" y="2331720"/>
            <a:ext cx="1852358" cy="3794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6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DEEP-DIVE · REVIEWS</a:t>
            </a:r>
          </a:p>
        </p:txBody>
      </p:sp>
      <p:sp>
        <p:nvSpPr>
          <p:cNvPr id="608" name="TextBox 4"/>
          <p:cNvSpPr txBox="1"/>
          <p:nvPr/>
        </p:nvSpPr>
        <p:spPr>
          <a:xfrm>
            <a:off x="1024127" y="786383"/>
            <a:ext cx="10607042" cy="382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rules-driven review system</a:t>
            </a:r>
          </a:p>
        </p:txBody>
      </p:sp>
      <p:sp>
        <p:nvSpPr>
          <p:cNvPr id="609" name="Rectangle 5"/>
          <p:cNvSpPr/>
          <p:nvPr/>
        </p:nvSpPr>
        <p:spPr>
          <a:xfrm>
            <a:off x="822960" y="1915667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TextBox 6"/>
          <p:cNvSpPr txBox="1"/>
          <p:nvPr/>
        </p:nvSpPr>
        <p:spPr>
          <a:xfrm>
            <a:off x="1115567" y="1819655"/>
            <a:ext cx="6291074" cy="429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Read anywhere, write once. </a:t>
            </a:r>
            <a:r>
              <a:rPr b="0">
                <a:solidFill>
                  <a:srgbClr val="F3F3F5"/>
                </a:solidFill>
              </a:rPr>
              <a:t>Showing pages are read-only; writing lives on Booking Detail.</a:t>
            </a:r>
          </a:p>
        </p:txBody>
      </p:sp>
      <p:sp>
        <p:nvSpPr>
          <p:cNvPr id="611" name="Rectangle 7"/>
          <p:cNvSpPr/>
          <p:nvPr/>
        </p:nvSpPr>
        <p:spPr>
          <a:xfrm>
            <a:off x="822960" y="2665476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2" name="TextBox 8"/>
          <p:cNvSpPr txBox="1"/>
          <p:nvPr/>
        </p:nvSpPr>
        <p:spPr>
          <a:xfrm>
            <a:off x="1115567" y="2569464"/>
            <a:ext cx="6291074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Four ownership gates. </a:t>
            </a:r>
            <a:r>
              <a:rPr b="0">
                <a:solidFill>
                  <a:srgbClr val="F3F3F5"/>
                </a:solidFill>
              </a:rPr>
              <a:t>Signed in + owns the ticket + confirmed + showtime passed.</a:t>
            </a:r>
          </a:p>
        </p:txBody>
      </p:sp>
      <p:sp>
        <p:nvSpPr>
          <p:cNvPr id="613" name="Rectangle 9"/>
          <p:cNvSpPr/>
          <p:nvPr/>
        </p:nvSpPr>
        <p:spPr>
          <a:xfrm>
            <a:off x="822960" y="341528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4" name="TextBox 10"/>
          <p:cNvSpPr txBox="1"/>
          <p:nvPr/>
        </p:nvSpPr>
        <p:spPr>
          <a:xfrm>
            <a:off x="1115567" y="3319271"/>
            <a:ext cx="6291074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One review per item. </a:t>
            </a:r>
            <a:r>
              <a:rPr b="0">
                <a:solidFill>
                  <a:srgbClr val="F3F3F5"/>
                </a:solidFill>
              </a:rPr>
              <a:t>A single editable / deletable rating + comment, author-locked.</a:t>
            </a:r>
          </a:p>
        </p:txBody>
      </p:sp>
      <p:sp>
        <p:nvSpPr>
          <p:cNvPr id="615" name="Rectangle 11"/>
          <p:cNvSpPr/>
          <p:nvPr/>
        </p:nvSpPr>
        <p:spPr>
          <a:xfrm>
            <a:off x="822960" y="416509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6" name="TextBox 12"/>
          <p:cNvSpPr txBox="1"/>
          <p:nvPr/>
        </p:nvSpPr>
        <p:spPr>
          <a:xfrm>
            <a:off x="1115567" y="4069079"/>
            <a:ext cx="6291074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Two sources, never merged. </a:t>
            </a:r>
            <a:r>
              <a:rPr b="0">
                <a:solidFill>
                  <a:srgbClr val="F3F3F5"/>
                </a:solidFill>
              </a:rPr>
              <a:t>TicketPlease reviews stay separate from TMDB “Online”.</a:t>
            </a:r>
          </a:p>
        </p:txBody>
      </p:sp>
      <p:sp>
        <p:nvSpPr>
          <p:cNvPr id="617" name="Rectangle 13"/>
          <p:cNvSpPr/>
          <p:nvPr/>
        </p:nvSpPr>
        <p:spPr>
          <a:xfrm>
            <a:off x="822960" y="491490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8" name="TextBox 14"/>
          <p:cNvSpPr txBox="1"/>
          <p:nvPr/>
        </p:nvSpPr>
        <p:spPr>
          <a:xfrm>
            <a:off x="1115567" y="4818888"/>
            <a:ext cx="6291074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Safe testing. </a:t>
            </a:r>
            <a:r>
              <a:rPr b="0">
                <a:solidFill>
                  <a:srgbClr val="F3F3F5"/>
                </a:solidFill>
              </a:rPr>
              <a:t>Developer Mode can bypass the time rule without polluting data.</a:t>
            </a:r>
          </a:p>
        </p:txBody>
      </p:sp>
      <p:sp>
        <p:nvSpPr>
          <p:cNvPr id="619" name="Rounded Rectangle 15"/>
          <p:cNvSpPr/>
          <p:nvPr/>
        </p:nvSpPr>
        <p:spPr>
          <a:xfrm>
            <a:off x="822960" y="5806440"/>
            <a:ext cx="6583681" cy="685801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0" name="Rectangle 16"/>
          <p:cNvSpPr/>
          <p:nvPr/>
        </p:nvSpPr>
        <p:spPr>
          <a:xfrm>
            <a:off x="822960" y="5806440"/>
            <a:ext cx="82297" cy="685801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TextBox 17"/>
          <p:cNvSpPr txBox="1"/>
          <p:nvPr/>
        </p:nvSpPr>
        <p:spPr>
          <a:xfrm>
            <a:off x="1097280" y="5961540"/>
            <a:ext cx="6126480" cy="37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Why it matters:  </a:t>
            </a:r>
            <a:r>
              <a:rPr b="0">
                <a:solidFill>
                  <a:srgbClr val="F3F3F5"/>
                </a:solidFill>
              </a:rPr>
              <a:t>Server-side this becomes moderated, one-per-customer feedback — ideal for NPS modules. (Net Promoter score)</a:t>
            </a:r>
          </a:p>
        </p:txBody>
      </p:sp>
      <p:pic>
        <p:nvPicPr>
          <p:cNvPr id="622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0" y="1371600"/>
            <a:ext cx="1852358" cy="37947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23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921240" y="2331720"/>
            <a:ext cx="1852358" cy="3794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6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DEEP-DIVE · LOCATIONS</a:t>
            </a:r>
          </a:p>
        </p:txBody>
      </p:sp>
      <p:sp>
        <p:nvSpPr>
          <p:cNvPr id="628" name="TextBox 4"/>
          <p:cNvSpPr txBox="1"/>
          <p:nvPr/>
        </p:nvSpPr>
        <p:spPr>
          <a:xfrm>
            <a:off x="1024127" y="786383"/>
            <a:ext cx="10607042" cy="382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27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MapKit locations &amp; showtime shortcuts</a:t>
            </a:r>
          </a:p>
        </p:txBody>
      </p:sp>
      <p:sp>
        <p:nvSpPr>
          <p:cNvPr id="629" name="Rectangle 5"/>
          <p:cNvSpPr/>
          <p:nvPr/>
        </p:nvSpPr>
        <p:spPr>
          <a:xfrm>
            <a:off x="822960" y="1915667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0" name="TextBox 6"/>
          <p:cNvSpPr txBox="1"/>
          <p:nvPr/>
        </p:nvSpPr>
        <p:spPr>
          <a:xfrm>
            <a:off x="1115567" y="1819655"/>
            <a:ext cx="6291074" cy="429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Live pins. </a:t>
            </a:r>
            <a:r>
              <a:rPr b="0">
                <a:solidFill>
                  <a:srgbClr val="F3F3F5"/>
                </a:solidFill>
              </a:rPr>
              <a:t>Cinema and event-venue annotations render from real coordinates.</a:t>
            </a:r>
          </a:p>
        </p:txBody>
      </p:sp>
      <p:sp>
        <p:nvSpPr>
          <p:cNvPr id="631" name="Rectangle 7"/>
          <p:cNvSpPr/>
          <p:nvPr/>
        </p:nvSpPr>
        <p:spPr>
          <a:xfrm>
            <a:off x="822960" y="2665476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2" name="TextBox 8"/>
          <p:cNvSpPr txBox="1"/>
          <p:nvPr/>
        </p:nvSpPr>
        <p:spPr>
          <a:xfrm>
            <a:off x="1115567" y="2569464"/>
            <a:ext cx="6291074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Rich callouts. </a:t>
            </a:r>
            <a:r>
              <a:rPr b="0">
                <a:solidFill>
                  <a:srgbClr val="F3F3F5"/>
                </a:solidFill>
              </a:rPr>
              <a:t>Tapping a pin opens Cinema Details with grouped showtimes.</a:t>
            </a:r>
          </a:p>
        </p:txBody>
      </p:sp>
      <p:sp>
        <p:nvSpPr>
          <p:cNvPr id="633" name="Rectangle 9"/>
          <p:cNvSpPr/>
          <p:nvPr/>
        </p:nvSpPr>
        <p:spPr>
          <a:xfrm>
            <a:off x="822960" y="341528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4" name="TextBox 10"/>
          <p:cNvSpPr txBox="1"/>
          <p:nvPr/>
        </p:nvSpPr>
        <p:spPr>
          <a:xfrm>
            <a:off x="1115567" y="3319271"/>
            <a:ext cx="6291074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Tap-to-book. </a:t>
            </a:r>
            <a:r>
              <a:rPr b="0">
                <a:solidFill>
                  <a:srgbClr val="F3F3F5"/>
                </a:solidFill>
              </a:rPr>
              <a:t>Showtime chips preselect the date and time, then route to booking.</a:t>
            </a:r>
          </a:p>
        </p:txBody>
      </p:sp>
      <p:sp>
        <p:nvSpPr>
          <p:cNvPr id="635" name="Rectangle 11"/>
          <p:cNvSpPr/>
          <p:nvPr/>
        </p:nvSpPr>
        <p:spPr>
          <a:xfrm>
            <a:off x="822960" y="416509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6" name="TextBox 12"/>
          <p:cNvSpPr txBox="1"/>
          <p:nvPr/>
        </p:nvSpPr>
        <p:spPr>
          <a:xfrm>
            <a:off x="1115567" y="4069079"/>
            <a:ext cx="6291074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Native hand-off. </a:t>
            </a:r>
            <a:r>
              <a:rPr b="0">
                <a:solidFill>
                  <a:srgbClr val="F3F3F5"/>
                </a:solidFill>
              </a:rPr>
              <a:t>Apple Maps pins and zoom controls for real navigation.</a:t>
            </a:r>
          </a:p>
        </p:txBody>
      </p:sp>
      <p:sp>
        <p:nvSpPr>
          <p:cNvPr id="637" name="Rectangle 13"/>
          <p:cNvSpPr/>
          <p:nvPr/>
        </p:nvSpPr>
        <p:spPr>
          <a:xfrm>
            <a:off x="822960" y="491490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38" name="TextBox 14"/>
          <p:cNvSpPr txBox="1"/>
          <p:nvPr/>
        </p:nvSpPr>
        <p:spPr>
          <a:xfrm>
            <a:off x="1115567" y="4818888"/>
            <a:ext cx="6291074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Guardrails. </a:t>
            </a:r>
            <a:r>
              <a:rPr b="0">
                <a:solidFill>
                  <a:srgbClr val="F3F3F5"/>
                </a:solidFill>
              </a:rPr>
              <a:t>Booking is restricted to the cinema assigned to that showing.</a:t>
            </a:r>
          </a:p>
        </p:txBody>
      </p:sp>
      <p:sp>
        <p:nvSpPr>
          <p:cNvPr id="639" name="Rounded Rectangle 15"/>
          <p:cNvSpPr/>
          <p:nvPr/>
        </p:nvSpPr>
        <p:spPr>
          <a:xfrm>
            <a:off x="822960" y="5806440"/>
            <a:ext cx="6583681" cy="685801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0" name="Rectangle 16"/>
          <p:cNvSpPr/>
          <p:nvPr/>
        </p:nvSpPr>
        <p:spPr>
          <a:xfrm>
            <a:off x="822960" y="5806440"/>
            <a:ext cx="82297" cy="685801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1" name="TextBox 17"/>
          <p:cNvSpPr txBox="1"/>
          <p:nvPr/>
        </p:nvSpPr>
        <p:spPr>
          <a:xfrm>
            <a:off x="1097280" y="5961540"/>
            <a:ext cx="6126480" cy="37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Why it matters:  </a:t>
            </a:r>
            <a:r>
              <a:rPr b="0">
                <a:solidFill>
                  <a:srgbClr val="F3F3F5"/>
                </a:solidFill>
              </a:rPr>
              <a:t>The identical pattern powers branch / ATM / store locators and field dispatch.</a:t>
            </a:r>
          </a:p>
        </p:txBody>
      </p:sp>
      <p:pic>
        <p:nvPicPr>
          <p:cNvPr id="642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772400" y="1371600"/>
            <a:ext cx="1852358" cy="37947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43" name="Picture 19" descr="Picture 1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921240" y="2331720"/>
            <a:ext cx="1852358" cy="3794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6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DEEP-DIVE · NOTIFICATIONS</a:t>
            </a:r>
          </a:p>
        </p:txBody>
      </p:sp>
      <p:sp>
        <p:nvSpPr>
          <p:cNvPr id="648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Local notifications &amp; reminders</a:t>
            </a:r>
          </a:p>
        </p:txBody>
      </p:sp>
      <p:sp>
        <p:nvSpPr>
          <p:cNvPr id="649" name="Rectangle 5"/>
          <p:cNvSpPr/>
          <p:nvPr/>
        </p:nvSpPr>
        <p:spPr>
          <a:xfrm>
            <a:off x="822960" y="1915667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0" name="TextBox 6"/>
          <p:cNvSpPr txBox="1"/>
          <p:nvPr/>
        </p:nvSpPr>
        <p:spPr>
          <a:xfrm>
            <a:off x="1115568" y="1819655"/>
            <a:ext cx="4736592" cy="429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On-device scheduling. </a:t>
            </a:r>
            <a:r>
              <a:rPr b="0">
                <a:solidFill>
                  <a:srgbClr val="F3F3F5"/>
                </a:solidFill>
              </a:rPr>
              <a:t>Reminders fire through UserNotifications — no server, no APNs.</a:t>
            </a:r>
          </a:p>
        </p:txBody>
      </p:sp>
      <p:sp>
        <p:nvSpPr>
          <p:cNvPr id="651" name="Rectangle 7"/>
          <p:cNvSpPr/>
          <p:nvPr/>
        </p:nvSpPr>
        <p:spPr>
          <a:xfrm>
            <a:off x="822960" y="2665476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TextBox 8"/>
          <p:cNvSpPr txBox="1"/>
          <p:nvPr/>
        </p:nvSpPr>
        <p:spPr>
          <a:xfrm>
            <a:off x="1115568" y="2569464"/>
            <a:ext cx="4736592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Booking reminders. </a:t>
            </a:r>
            <a:r>
              <a:rPr b="0">
                <a:solidFill>
                  <a:srgbClr val="F3F3F5"/>
                </a:solidFill>
              </a:rPr>
              <a:t>Alert before confirmed showtimes; toggled in Settings.</a:t>
            </a:r>
          </a:p>
        </p:txBody>
      </p:sp>
      <p:sp>
        <p:nvSpPr>
          <p:cNvPr id="653" name="Rectangle 9"/>
          <p:cNvSpPr/>
          <p:nvPr/>
        </p:nvSpPr>
        <p:spPr>
          <a:xfrm>
            <a:off x="822960" y="3415284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4" name="TextBox 10"/>
          <p:cNvSpPr txBox="1"/>
          <p:nvPr/>
        </p:nvSpPr>
        <p:spPr>
          <a:xfrm>
            <a:off x="1115568" y="3319271"/>
            <a:ext cx="4736592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Standard iOS surfaces. </a:t>
            </a:r>
            <a:r>
              <a:rPr b="0">
                <a:solidFill>
                  <a:srgbClr val="F3F3F5"/>
                </a:solidFill>
              </a:rPr>
              <a:t>Delivered as a top banner and on the lock screen.</a:t>
            </a:r>
          </a:p>
        </p:txBody>
      </p:sp>
      <p:sp>
        <p:nvSpPr>
          <p:cNvPr id="655" name="Rectangle 11"/>
          <p:cNvSpPr/>
          <p:nvPr/>
        </p:nvSpPr>
        <p:spPr>
          <a:xfrm>
            <a:off x="822960" y="416509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TextBox 12"/>
          <p:cNvSpPr txBox="1"/>
          <p:nvPr/>
        </p:nvSpPr>
        <p:spPr>
          <a:xfrm>
            <a:off x="1115568" y="4069079"/>
            <a:ext cx="4736592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Rich content. </a:t>
            </a:r>
            <a:r>
              <a:rPr b="0">
                <a:solidFill>
                  <a:srgbClr val="F3F3F5"/>
                </a:solidFill>
              </a:rPr>
              <a:t>Title, subtitle and body carry the movie / event, venue, seats &amp; time.</a:t>
            </a:r>
          </a:p>
        </p:txBody>
      </p:sp>
      <p:sp>
        <p:nvSpPr>
          <p:cNvPr id="657" name="Rectangle 13"/>
          <p:cNvSpPr/>
          <p:nvPr/>
        </p:nvSpPr>
        <p:spPr>
          <a:xfrm>
            <a:off x="822960" y="491490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8" name="TextBox 14"/>
          <p:cNvSpPr txBox="1"/>
          <p:nvPr/>
        </p:nvSpPr>
        <p:spPr>
          <a:xfrm>
            <a:off x="1115568" y="4818888"/>
            <a:ext cx="4736592" cy="429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Built-in test harness. </a:t>
            </a:r>
            <a:r>
              <a:rPr b="0">
                <a:solidFill>
                  <a:srgbClr val="F3F3F5"/>
                </a:solidFill>
              </a:rPr>
              <a:t>Developer Mode fires a five-second test notification.</a:t>
            </a:r>
          </a:p>
        </p:txBody>
      </p:sp>
      <p:sp>
        <p:nvSpPr>
          <p:cNvPr id="659" name="Rounded Rectangle 15"/>
          <p:cNvSpPr/>
          <p:nvPr/>
        </p:nvSpPr>
        <p:spPr>
          <a:xfrm>
            <a:off x="822960" y="5806440"/>
            <a:ext cx="5029201" cy="685801"/>
          </a:xfrm>
          <a:prstGeom prst="roundRect">
            <a:avLst>
              <a:gd name="adj" fmla="val 10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0" name="Rectangle 16"/>
          <p:cNvSpPr/>
          <p:nvPr/>
        </p:nvSpPr>
        <p:spPr>
          <a:xfrm>
            <a:off x="822960" y="5806440"/>
            <a:ext cx="82297" cy="685801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1" name="TextBox 17"/>
          <p:cNvSpPr txBox="1"/>
          <p:nvPr/>
        </p:nvSpPr>
        <p:spPr>
          <a:xfrm>
            <a:off x="1097280" y="5866290"/>
            <a:ext cx="4572001" cy="566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3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Why it matters:  </a:t>
            </a:r>
            <a:r>
              <a:rPr b="0">
                <a:solidFill>
                  <a:srgbClr val="F3F3F5"/>
                </a:solidFill>
              </a:rPr>
              <a:t>the same reminder pattern drives appointment &amp; payment alerts — upgraded to server APNs in production.</a:t>
            </a:r>
          </a:p>
        </p:txBody>
      </p:sp>
      <p:pic>
        <p:nvPicPr>
          <p:cNvPr id="662" name="Picture 18" descr="Picture 1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26479" y="1417319"/>
            <a:ext cx="2410298" cy="4937761"/>
          </a:xfrm>
          <a:prstGeom prst="rect">
            <a:avLst/>
          </a:prstGeom>
          <a:ln w="12700">
            <a:miter lim="400000"/>
          </a:ln>
        </p:spPr>
      </p:pic>
      <p:sp>
        <p:nvSpPr>
          <p:cNvPr id="663" name="TextBox 19"/>
          <p:cNvSpPr txBox="1"/>
          <p:nvPr/>
        </p:nvSpPr>
        <p:spPr>
          <a:xfrm>
            <a:off x="5852159" y="6409944"/>
            <a:ext cx="2958937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Banner pop-up</a:t>
            </a:r>
          </a:p>
        </p:txBody>
      </p:sp>
      <p:pic>
        <p:nvPicPr>
          <p:cNvPr id="664" name="Picture 20" descr="Picture 2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52559" y="1417319"/>
            <a:ext cx="2410297" cy="4937761"/>
          </a:xfrm>
          <a:prstGeom prst="rect">
            <a:avLst/>
          </a:prstGeom>
          <a:ln w="12700">
            <a:miter lim="400000"/>
          </a:ln>
        </p:spPr>
      </p:pic>
      <p:sp>
        <p:nvSpPr>
          <p:cNvPr id="665" name="TextBox 21"/>
          <p:cNvSpPr txBox="1"/>
          <p:nvPr/>
        </p:nvSpPr>
        <p:spPr>
          <a:xfrm>
            <a:off x="8778240" y="6409944"/>
            <a:ext cx="2958937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1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Lock screen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DEEP-DIVE · DATA</a:t>
            </a:r>
          </a:p>
        </p:txBody>
      </p:sp>
      <p:sp>
        <p:nvSpPr>
          <p:cNvPr id="670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Persistence &amp; security model</a:t>
            </a:r>
          </a:p>
        </p:txBody>
      </p:sp>
      <p:sp>
        <p:nvSpPr>
          <p:cNvPr id="671" name="TextBox 5"/>
          <p:cNvSpPr txBox="1"/>
          <p:nvPr/>
        </p:nvSpPr>
        <p:spPr>
          <a:xfrm>
            <a:off x="822960" y="1755648"/>
            <a:ext cx="10424160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5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Local reminders fire through </a:t>
            </a:r>
            <a:r>
              <a:rPr b="1">
                <a:solidFill>
                  <a:srgbClr val="F0C05C"/>
                </a:solidFill>
              </a:rPr>
              <a:t>UserNotifications</a:t>
            </a:r>
            <a:r>
              <a:t> (no server / APNs). Each data type has a purpose-fit store:</a:t>
            </a:r>
          </a:p>
        </p:txBody>
      </p:sp>
      <p:graphicFrame>
        <p:nvGraphicFramePr>
          <p:cNvPr id="672" name="Table 6"/>
          <p:cNvGraphicFramePr/>
          <p:nvPr/>
        </p:nvGraphicFramePr>
        <p:xfrm>
          <a:off x="822960" y="2331720"/>
          <a:ext cx="10515601" cy="42062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377440"/>
                <a:gridCol w="4846320"/>
                <a:gridCol w="3291840"/>
              </a:tblGrid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12D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Where it lives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12D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Mechanism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12D3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Bookings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Documents/bookings.json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FileManager + Codable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Profiles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Documents/profiles.json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FileManager + Codable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Reviews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Documents/reviews.json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FileManager + Codable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Settings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CineSeatSettings.plist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Plist repository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Seat layouts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SeatLayouts.plist (editable copy)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Plist repository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Session &amp; prefs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UserDefaults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Key-value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Passwords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iOS Keychain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Secure enclave-backed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Posters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Caches/PosterCache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URLSession + cache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Bundled content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 LocalContent JSON files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DTO → mapper → model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Rectangle 1"/>
          <p:cNvSpPr/>
          <p:nvPr/>
        </p:nvSpPr>
        <p:spPr>
          <a:xfrm>
            <a:off x="-1" y="0"/>
            <a:ext cx="4023361" cy="6858000"/>
          </a:xfrm>
          <a:prstGeom prst="rect">
            <a:avLst/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5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TextBox 3"/>
          <p:cNvSpPr txBox="1"/>
          <p:nvPr/>
        </p:nvSpPr>
        <p:spPr>
          <a:xfrm>
            <a:off x="822959" y="2148839"/>
            <a:ext cx="2926082" cy="1702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77" name="Rectangle 4"/>
          <p:cNvSpPr/>
          <p:nvPr/>
        </p:nvSpPr>
        <p:spPr>
          <a:xfrm>
            <a:off x="4480559" y="2743200"/>
            <a:ext cx="82297" cy="1371600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8" name="TextBox 5"/>
          <p:cNvSpPr txBox="1"/>
          <p:nvPr/>
        </p:nvSpPr>
        <p:spPr>
          <a:xfrm>
            <a:off x="4754879" y="3060119"/>
            <a:ext cx="676656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4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Engineering &amp; Learning</a:t>
            </a:r>
          </a:p>
        </p:txBody>
      </p:sp>
      <p:sp>
        <p:nvSpPr>
          <p:cNvPr id="679" name="TextBox 6"/>
          <p:cNvSpPr txBox="1"/>
          <p:nvPr/>
        </p:nvSpPr>
        <p:spPr>
          <a:xfrm>
            <a:off x="4754879" y="3977638"/>
            <a:ext cx="67665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7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Architecture and the iOS competencies practiced</a:t>
            </a:r>
          </a:p>
        </p:txBody>
      </p:sp>
      <p:sp>
        <p:nvSpPr>
          <p:cNvPr id="680" name="TextBox 7"/>
          <p:cNvSpPr txBox="1"/>
          <p:nvPr/>
        </p:nvSpPr>
        <p:spPr>
          <a:xfrm>
            <a:off x="822959" y="6126479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TICKETPLEASE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3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ENGINEERING</a:t>
            </a:r>
          </a:p>
        </p:txBody>
      </p:sp>
      <p:sp>
        <p:nvSpPr>
          <p:cNvPr id="685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Clean Architecture at a glance</a:t>
            </a:r>
          </a:p>
        </p:txBody>
      </p:sp>
      <p:sp>
        <p:nvSpPr>
          <p:cNvPr id="686" name="Rounded Rectangle 5"/>
          <p:cNvSpPr/>
          <p:nvPr/>
        </p:nvSpPr>
        <p:spPr>
          <a:xfrm>
            <a:off x="822960" y="1965960"/>
            <a:ext cx="7498079" cy="105156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7" name="Rectangle 6"/>
          <p:cNvSpPr/>
          <p:nvPr/>
        </p:nvSpPr>
        <p:spPr>
          <a:xfrm>
            <a:off x="822960" y="1965960"/>
            <a:ext cx="109729" cy="1051561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8" name="TextBox 7"/>
          <p:cNvSpPr txBox="1"/>
          <p:nvPr/>
        </p:nvSpPr>
        <p:spPr>
          <a:xfrm>
            <a:off x="1142999" y="2093976"/>
            <a:ext cx="6949442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PRESENTATION</a:t>
            </a:r>
          </a:p>
        </p:txBody>
      </p:sp>
      <p:sp>
        <p:nvSpPr>
          <p:cNvPr id="689" name="TextBox 8"/>
          <p:cNvSpPr txBox="1"/>
          <p:nvPr/>
        </p:nvSpPr>
        <p:spPr>
          <a:xfrm>
            <a:off x="1142999" y="2496311"/>
            <a:ext cx="694944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View  (UIKit controllers, storyboards, custom views)   +   ViewModel</a:t>
            </a:r>
          </a:p>
        </p:txBody>
      </p:sp>
      <p:sp>
        <p:nvSpPr>
          <p:cNvPr id="690" name="TextBox 9"/>
          <p:cNvSpPr txBox="1"/>
          <p:nvPr/>
        </p:nvSpPr>
        <p:spPr>
          <a:xfrm>
            <a:off x="4297679" y="2999232"/>
            <a:ext cx="54864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sz="16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▲</a:t>
            </a:r>
          </a:p>
        </p:txBody>
      </p:sp>
      <p:sp>
        <p:nvSpPr>
          <p:cNvPr id="691" name="Rounded Rectangle 10"/>
          <p:cNvSpPr/>
          <p:nvPr/>
        </p:nvSpPr>
        <p:spPr>
          <a:xfrm>
            <a:off x="822960" y="3337559"/>
            <a:ext cx="7498079" cy="105156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2" name="Rectangle 11"/>
          <p:cNvSpPr/>
          <p:nvPr/>
        </p:nvSpPr>
        <p:spPr>
          <a:xfrm>
            <a:off x="822960" y="3337559"/>
            <a:ext cx="109729" cy="1051561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3" name="TextBox 12"/>
          <p:cNvSpPr txBox="1"/>
          <p:nvPr/>
        </p:nvSpPr>
        <p:spPr>
          <a:xfrm>
            <a:off x="1142999" y="3465576"/>
            <a:ext cx="6949442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</a:t>
            </a:r>
          </a:p>
        </p:txBody>
      </p:sp>
      <p:sp>
        <p:nvSpPr>
          <p:cNvPr id="694" name="TextBox 13"/>
          <p:cNvSpPr txBox="1"/>
          <p:nvPr/>
        </p:nvSpPr>
        <p:spPr>
          <a:xfrm>
            <a:off x="1142999" y="3867910"/>
            <a:ext cx="694944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Protocol contracts   ·   Use cases   (framework-independent)</a:t>
            </a:r>
          </a:p>
        </p:txBody>
      </p:sp>
      <p:sp>
        <p:nvSpPr>
          <p:cNvPr id="695" name="TextBox 14"/>
          <p:cNvSpPr txBox="1"/>
          <p:nvPr/>
        </p:nvSpPr>
        <p:spPr>
          <a:xfrm>
            <a:off x="4297679" y="4370832"/>
            <a:ext cx="54864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sz="16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▲</a:t>
            </a:r>
          </a:p>
        </p:txBody>
      </p:sp>
      <p:sp>
        <p:nvSpPr>
          <p:cNvPr id="696" name="Rounded Rectangle 15"/>
          <p:cNvSpPr/>
          <p:nvPr/>
        </p:nvSpPr>
        <p:spPr>
          <a:xfrm>
            <a:off x="822960" y="4709159"/>
            <a:ext cx="7498079" cy="105156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7" name="Rectangle 16"/>
          <p:cNvSpPr/>
          <p:nvPr/>
        </p:nvSpPr>
        <p:spPr>
          <a:xfrm>
            <a:off x="822960" y="4709159"/>
            <a:ext cx="109729" cy="1051561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8" name="TextBox 17"/>
          <p:cNvSpPr txBox="1"/>
          <p:nvPr/>
        </p:nvSpPr>
        <p:spPr>
          <a:xfrm>
            <a:off x="1142999" y="4837176"/>
            <a:ext cx="6949442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/ PERSISTENCE</a:t>
            </a:r>
          </a:p>
        </p:txBody>
      </p:sp>
      <p:sp>
        <p:nvSpPr>
          <p:cNvPr id="699" name="TextBox 18"/>
          <p:cNvSpPr txBox="1"/>
          <p:nvPr/>
        </p:nvSpPr>
        <p:spPr>
          <a:xfrm>
            <a:off x="1142999" y="5239511"/>
            <a:ext cx="6949442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Model — JSON · plist · UserDefaults · Keychain · URLSession</a:t>
            </a:r>
          </a:p>
        </p:txBody>
      </p:sp>
      <p:sp>
        <p:nvSpPr>
          <p:cNvPr id="700" name="Rounded Rectangle 19"/>
          <p:cNvSpPr/>
          <p:nvPr/>
        </p:nvSpPr>
        <p:spPr>
          <a:xfrm>
            <a:off x="8686800" y="1965960"/>
            <a:ext cx="2681935" cy="3794760"/>
          </a:xfrm>
          <a:prstGeom prst="roundRect">
            <a:avLst>
              <a:gd name="adj" fmla="val 5000"/>
            </a:avLst>
          </a:prstGeom>
          <a:solidFill>
            <a:srgbClr val="2424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1" name="TextBox 20"/>
          <p:cNvSpPr txBox="1"/>
          <p:nvPr/>
        </p:nvSpPr>
        <p:spPr>
          <a:xfrm>
            <a:off x="8915400" y="2148839"/>
            <a:ext cx="231617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AppFactory</a:t>
            </a:r>
          </a:p>
        </p:txBody>
      </p:sp>
      <p:sp>
        <p:nvSpPr>
          <p:cNvPr id="702" name="TextBox 21"/>
          <p:cNvSpPr txBox="1"/>
          <p:nvPr/>
        </p:nvSpPr>
        <p:spPr>
          <a:xfrm>
            <a:off x="8915400" y="2532888"/>
            <a:ext cx="2316176" cy="545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spcBef>
                <a:spcPts val="400"/>
              </a:spcBef>
              <a:defRPr sz="12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Composition root — injects every client, repository, service &amp; use case through protocols.</a:t>
            </a:r>
          </a:p>
        </p:txBody>
      </p:sp>
      <p:sp>
        <p:nvSpPr>
          <p:cNvPr id="703" name="Rectangle 22"/>
          <p:cNvSpPr/>
          <p:nvPr/>
        </p:nvSpPr>
        <p:spPr>
          <a:xfrm>
            <a:off x="8915400" y="3840479"/>
            <a:ext cx="2224735" cy="18289"/>
          </a:xfrm>
          <a:prstGeom prst="rect">
            <a:avLst/>
          </a:prstGeom>
          <a:solidFill>
            <a:srgbClr val="76788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4" name="TextBox 23"/>
          <p:cNvSpPr txBox="1"/>
          <p:nvPr/>
        </p:nvSpPr>
        <p:spPr>
          <a:xfrm>
            <a:off x="8915400" y="3977638"/>
            <a:ext cx="2316176" cy="197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4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Cross-cutting / Constants</a:t>
            </a:r>
          </a:p>
        </p:txBody>
      </p:sp>
      <p:sp>
        <p:nvSpPr>
          <p:cNvPr id="705" name="TextBox 24"/>
          <p:cNvSpPr txBox="1"/>
          <p:nvPr/>
        </p:nvSpPr>
        <p:spPr>
          <a:xfrm>
            <a:off x="8915400" y="4343400"/>
            <a:ext cx="2316176" cy="545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spcBef>
                <a:spcPts val="400"/>
              </a:spcBef>
              <a:defRPr sz="12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Shared formatters, design tokens, reusable cells &amp; headers keep every screen consistent.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LEARNING</a:t>
            </a:r>
          </a:p>
        </p:txBody>
      </p:sp>
      <p:sp>
        <p:nvSpPr>
          <p:cNvPr id="710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Six iOS modules learned from the training</a:t>
            </a:r>
          </a:p>
        </p:txBody>
      </p:sp>
      <p:graphicFrame>
        <p:nvGraphicFramePr>
          <p:cNvPr id="711" name="Table 5"/>
          <p:cNvGraphicFramePr/>
          <p:nvPr/>
        </p:nvGraphicFramePr>
        <p:xfrm>
          <a:off x="822960" y="1874518"/>
          <a:ext cx="10515601" cy="460857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834640"/>
                <a:gridCol w="7680960"/>
              </a:tblGrid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Module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12D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How TicketPlease applies it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12D3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· Swift Fundamentals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Types, optionals, enums/structs/classes, protocols, Codable, ARC, shared formatters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· UIKit &amp; MVVM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Storyboard + programmatic Auto Layout, table views, segmented controls, custom seat views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 · Intermediate Swift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Closures, map/filter/reduce/sorted, protocol abstraction, UserNotifications, main-thread UI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 · Networking &amp; Deps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URLSession poster fallback, async TMDB reviews, native MapKit/UIKit, zero pods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 · Persistence &amp; Security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repositories, plist, UserDefaults, Keychain password storage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 · Clean Arch &amp; DI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View/ViewModel/Domain/Persistence split, AppFactory, shared formatters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Rectangle 1"/>
          <p:cNvSpPr/>
          <p:nvPr/>
        </p:nvSpPr>
        <p:spPr>
          <a:xfrm>
            <a:off x="-1" y="0"/>
            <a:ext cx="4023361" cy="6858000"/>
          </a:xfrm>
          <a:prstGeom prst="rect">
            <a:avLst/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4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TextBox 3"/>
          <p:cNvSpPr txBox="1"/>
          <p:nvPr/>
        </p:nvSpPr>
        <p:spPr>
          <a:xfrm>
            <a:off x="822959" y="2148839"/>
            <a:ext cx="2926082" cy="1702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716" name="Rectangle 4"/>
          <p:cNvSpPr/>
          <p:nvPr/>
        </p:nvSpPr>
        <p:spPr>
          <a:xfrm>
            <a:off x="4480559" y="2743200"/>
            <a:ext cx="82297" cy="1371600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7" name="TextBox 5"/>
          <p:cNvSpPr txBox="1"/>
          <p:nvPr/>
        </p:nvSpPr>
        <p:spPr>
          <a:xfrm>
            <a:off x="4754879" y="3060119"/>
            <a:ext cx="676656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4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Business Translation</a:t>
            </a:r>
          </a:p>
        </p:txBody>
      </p:sp>
      <p:sp>
        <p:nvSpPr>
          <p:cNvPr id="718" name="TextBox 6"/>
          <p:cNvSpPr txBox="1"/>
          <p:nvPr/>
        </p:nvSpPr>
        <p:spPr>
          <a:xfrm>
            <a:off x="4754879" y="3977638"/>
            <a:ext cx="67665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7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From practice app to Seven Seven Global Soft solutions</a:t>
            </a:r>
          </a:p>
        </p:txBody>
      </p:sp>
      <p:sp>
        <p:nvSpPr>
          <p:cNvPr id="719" name="TextBox 7"/>
          <p:cNvSpPr txBox="1"/>
          <p:nvPr/>
        </p:nvSpPr>
        <p:spPr>
          <a:xfrm>
            <a:off x="822959" y="6126479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TICKETPLEASE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2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3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BUSINESS TRANSLATION</a:t>
            </a:r>
          </a:p>
        </p:txBody>
      </p:sp>
      <p:sp>
        <p:nvSpPr>
          <p:cNvPr id="724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 this matters for Seven Seven Global Soft</a:t>
            </a:r>
          </a:p>
        </p:txBody>
      </p:sp>
      <p:sp>
        <p:nvSpPr>
          <p:cNvPr id="725" name="Rectangle 5"/>
          <p:cNvSpPr/>
          <p:nvPr/>
        </p:nvSpPr>
        <p:spPr>
          <a:xfrm>
            <a:off x="822960" y="1897379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6" name="TextBox 6"/>
          <p:cNvSpPr txBox="1"/>
          <p:nvPr/>
        </p:nvSpPr>
        <p:spPr>
          <a:xfrm>
            <a:off x="1115567" y="1801367"/>
            <a:ext cx="10131553" cy="50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company. </a:t>
            </a:r>
            <a:r>
              <a:rPr b="0">
                <a:solidFill>
                  <a:srgbClr val="F3F3F5"/>
                </a:solidFill>
              </a:rPr>
              <a:t>An IT services firm delivering tailored web &amp; app solutions to banks and international clients.</a:t>
            </a:r>
          </a:p>
        </p:txBody>
      </p:sp>
      <p:sp>
        <p:nvSpPr>
          <p:cNvPr id="727" name="Rectangle 7"/>
          <p:cNvSpPr/>
          <p:nvPr/>
        </p:nvSpPr>
        <p:spPr>
          <a:xfrm>
            <a:off x="822960" y="276606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TextBox 8"/>
          <p:cNvSpPr txBox="1"/>
          <p:nvPr/>
        </p:nvSpPr>
        <p:spPr>
          <a:xfrm>
            <a:off x="1115567" y="2670048"/>
            <a:ext cx="10131553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direction. </a:t>
            </a:r>
            <a:r>
              <a:rPr b="0">
                <a:solidFill>
                  <a:srgbClr val="F3F3F5"/>
                </a:solidFill>
              </a:rPr>
              <a:t>Actively moving into AI integration across its client portfolio.</a:t>
            </a:r>
          </a:p>
        </p:txBody>
      </p:sp>
      <p:sp>
        <p:nvSpPr>
          <p:cNvPr id="729" name="Rectangle 9"/>
          <p:cNvSpPr/>
          <p:nvPr/>
        </p:nvSpPr>
        <p:spPr>
          <a:xfrm>
            <a:off x="822960" y="363474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0" name="TextBox 10"/>
          <p:cNvSpPr txBox="1"/>
          <p:nvPr/>
        </p:nvSpPr>
        <p:spPr>
          <a:xfrm>
            <a:off x="1115567" y="3538728"/>
            <a:ext cx="10131553" cy="50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proof. </a:t>
            </a:r>
            <a:r>
              <a:rPr b="0">
                <a:solidFill>
                  <a:srgbClr val="F3F3F5"/>
                </a:solidFill>
              </a:rPr>
              <a:t>TicketPlease demonstrates reusable patterns — scheduling, secure auth, maps, notifications, clean architecture.</a:t>
            </a:r>
          </a:p>
        </p:txBody>
      </p:sp>
      <p:sp>
        <p:nvSpPr>
          <p:cNvPr id="731" name="Rectangle 11"/>
          <p:cNvSpPr/>
          <p:nvPr/>
        </p:nvSpPr>
        <p:spPr>
          <a:xfrm>
            <a:off x="822960" y="450342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2" name="TextBox 12"/>
          <p:cNvSpPr txBox="1"/>
          <p:nvPr/>
        </p:nvSpPr>
        <p:spPr>
          <a:xfrm>
            <a:off x="1115567" y="4407408"/>
            <a:ext cx="10131553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 payoff. </a:t>
            </a:r>
            <a:r>
              <a:rPr b="0">
                <a:solidFill>
                  <a:srgbClr val="F3F3F5"/>
                </a:solidFill>
              </a:rPr>
              <a:t>Every module could map to a concrete deliverable a bank or enterprise client would pay for.</a:t>
            </a:r>
          </a:p>
        </p:txBody>
      </p:sp>
      <p:sp>
        <p:nvSpPr>
          <p:cNvPr id="733" name="Rounded Rectangle 13"/>
          <p:cNvSpPr/>
          <p:nvPr/>
        </p:nvSpPr>
        <p:spPr>
          <a:xfrm>
            <a:off x="822960" y="5257800"/>
            <a:ext cx="10515601" cy="109728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4" name="Rectangle 14"/>
          <p:cNvSpPr/>
          <p:nvPr/>
        </p:nvSpPr>
        <p:spPr>
          <a:xfrm>
            <a:off x="822960" y="5257800"/>
            <a:ext cx="91441" cy="1097281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5" name="TextBox 15"/>
          <p:cNvSpPr txBox="1"/>
          <p:nvPr/>
        </p:nvSpPr>
        <p:spPr>
          <a:xfrm>
            <a:off x="1143000" y="5593656"/>
            <a:ext cx="10058400" cy="4255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One well-built booking app is really a toolkit: </a:t>
            </a:r>
            <a:r>
              <a:rPr b="0">
                <a:solidFill>
                  <a:srgbClr val="F3F3F5"/>
                </a:solidFill>
              </a:rPr>
              <a:t>reservation logic, identity, geolocation, messaging and reviews are the same primitives behind bank appointment systems, corporate calendars, and portals.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8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9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BUSINESS TRANSLATION</a:t>
            </a:r>
          </a:p>
        </p:txBody>
      </p:sp>
      <p:sp>
        <p:nvSpPr>
          <p:cNvPr id="740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Capability → client solution</a:t>
            </a:r>
          </a:p>
        </p:txBody>
      </p:sp>
      <p:graphicFrame>
        <p:nvGraphicFramePr>
          <p:cNvPr id="741" name="Table 5"/>
          <p:cNvGraphicFramePr/>
          <p:nvPr/>
        </p:nvGraphicFramePr>
        <p:xfrm>
          <a:off x="822960" y="1874518"/>
          <a:ext cx="10515601" cy="45354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206240"/>
                <a:gridCol w="6309360"/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TicketPlease capability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12D3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Reusable client solution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E12D3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Booking &amp; scheduling engine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Appointment / calendar systems, branch queueing, corporate room booking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Seat / resource map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Desk, room &amp; branch resource allocation; event seating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Keychain secure auth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Bank-grade secure login &amp; credential storage modules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Reviews &amp; ratings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Customer feedback, NPS &amp; survey modules with moderation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MapKit locations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Branch / ATM / store locators; field-service dispatch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Local + push notifications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Transaction alerts, appointment &amp; payment reminders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24242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F0C05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Clean Arch + DI + tests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F3F3F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Maintainable, testable, hand-off-ready client codebases</a:t>
                      </a:r>
                    </a:p>
                  </a:txBody>
                  <a:tcPr marL="27432" marR="27432" marT="27432" marB="27432" anchor="ctr" anchorCtr="0" horzOverflow="overflow">
                    <a:solidFill>
                      <a:srgbClr val="1A1A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4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BUSINESS TRANSLATION</a:t>
            </a:r>
          </a:p>
        </p:txBody>
      </p:sp>
      <p:sp>
        <p:nvSpPr>
          <p:cNvPr id="746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Three concrete client translations</a:t>
            </a:r>
          </a:p>
        </p:txBody>
      </p:sp>
      <p:sp>
        <p:nvSpPr>
          <p:cNvPr id="747" name="Rounded Rectangle 5"/>
          <p:cNvSpPr/>
          <p:nvPr/>
        </p:nvSpPr>
        <p:spPr>
          <a:xfrm>
            <a:off x="822960" y="1874518"/>
            <a:ext cx="7772401" cy="137160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8" name="Rectangle 6"/>
          <p:cNvSpPr/>
          <p:nvPr/>
        </p:nvSpPr>
        <p:spPr>
          <a:xfrm>
            <a:off x="822960" y="1874518"/>
            <a:ext cx="91441" cy="1371601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9" name="TextBox 7"/>
          <p:cNvSpPr txBox="1"/>
          <p:nvPr/>
        </p:nvSpPr>
        <p:spPr>
          <a:xfrm>
            <a:off x="1143000" y="2020823"/>
            <a:ext cx="7315200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Bank branch appointment app</a:t>
            </a:r>
          </a:p>
        </p:txBody>
      </p:sp>
      <p:sp>
        <p:nvSpPr>
          <p:cNvPr id="750" name="TextBox 8"/>
          <p:cNvSpPr txBox="1"/>
          <p:nvPr/>
        </p:nvSpPr>
        <p:spPr>
          <a:xfrm>
            <a:off x="1143000" y="2441448"/>
            <a:ext cx="7315200" cy="381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Reuse booking + Keychain auth + MapKit + reminders. Customers reserve a branch, time &amp; service; AI predicts wait times and staffs accordingly.</a:t>
            </a:r>
          </a:p>
        </p:txBody>
      </p:sp>
      <p:sp>
        <p:nvSpPr>
          <p:cNvPr id="751" name="Rounded Rectangle 9"/>
          <p:cNvSpPr/>
          <p:nvPr/>
        </p:nvSpPr>
        <p:spPr>
          <a:xfrm>
            <a:off x="822960" y="3410710"/>
            <a:ext cx="7772401" cy="137160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2" name="Rectangle 10"/>
          <p:cNvSpPr/>
          <p:nvPr/>
        </p:nvSpPr>
        <p:spPr>
          <a:xfrm>
            <a:off x="822960" y="3410710"/>
            <a:ext cx="91441" cy="1371601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3" name="TextBox 11"/>
          <p:cNvSpPr txBox="1"/>
          <p:nvPr/>
        </p:nvSpPr>
        <p:spPr>
          <a:xfrm>
            <a:off x="1143000" y="3557015"/>
            <a:ext cx="7315200" cy="246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Corporate room / desk booking</a:t>
            </a:r>
          </a:p>
        </p:txBody>
      </p:sp>
      <p:sp>
        <p:nvSpPr>
          <p:cNvPr id="754" name="TextBox 12"/>
          <p:cNvSpPr txBox="1"/>
          <p:nvPr/>
        </p:nvSpPr>
        <p:spPr>
          <a:xfrm>
            <a:off x="1143000" y="3977638"/>
            <a:ext cx="7315200" cy="38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Reuse the seat-map engine as a floor plan. Employees reserve desks &amp; rooms; calendar sync and AI suggest optimal times.</a:t>
            </a:r>
          </a:p>
        </p:txBody>
      </p:sp>
      <p:sp>
        <p:nvSpPr>
          <p:cNvPr id="755" name="Rounded Rectangle 13"/>
          <p:cNvSpPr/>
          <p:nvPr/>
        </p:nvSpPr>
        <p:spPr>
          <a:xfrm>
            <a:off x="822960" y="4946903"/>
            <a:ext cx="7772401" cy="137160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6" name="Rectangle 14"/>
          <p:cNvSpPr/>
          <p:nvPr/>
        </p:nvSpPr>
        <p:spPr>
          <a:xfrm>
            <a:off x="822960" y="4946903"/>
            <a:ext cx="91441" cy="1371601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7" name="TextBox 15"/>
          <p:cNvSpPr txBox="1"/>
          <p:nvPr/>
        </p:nvSpPr>
        <p:spPr>
          <a:xfrm>
            <a:off x="1143000" y="5093206"/>
            <a:ext cx="7315200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Enterprise event &amp; webinar portal</a:t>
            </a:r>
          </a:p>
        </p:txBody>
      </p:sp>
      <p:sp>
        <p:nvSpPr>
          <p:cNvPr id="758" name="TextBox 16"/>
          <p:cNvSpPr txBox="1"/>
          <p:nvPr/>
        </p:nvSpPr>
        <p:spPr>
          <a:xfrm>
            <a:off x="1143000" y="5513830"/>
            <a:ext cx="7315200" cy="381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Reuse Concerts/Seminars + quantity booking + reviews. International clients run registrations; AI summarizes attendee feedback.</a:t>
            </a:r>
          </a:p>
        </p:txBody>
      </p:sp>
      <p:pic>
        <p:nvPicPr>
          <p:cNvPr id="759" name="Picture 17" descr="Picture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52559" y="1417319"/>
            <a:ext cx="2454933" cy="5029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2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3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BUSINESS TRANSLATION</a:t>
            </a:r>
          </a:p>
        </p:txBody>
      </p:sp>
      <p:sp>
        <p:nvSpPr>
          <p:cNvPr id="764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Where AI plugs in</a:t>
            </a:r>
          </a:p>
        </p:txBody>
      </p:sp>
      <p:sp>
        <p:nvSpPr>
          <p:cNvPr id="765" name="Rounded Rectangle 5"/>
          <p:cNvSpPr/>
          <p:nvPr/>
        </p:nvSpPr>
        <p:spPr>
          <a:xfrm>
            <a:off x="822960" y="1874518"/>
            <a:ext cx="3310129" cy="1691641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6" name="Rectangle 6"/>
          <p:cNvSpPr/>
          <p:nvPr/>
        </p:nvSpPr>
        <p:spPr>
          <a:xfrm>
            <a:off x="822959" y="1874518"/>
            <a:ext cx="3310130" cy="6400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TextBox 7"/>
          <p:cNvSpPr txBox="1"/>
          <p:nvPr/>
        </p:nvSpPr>
        <p:spPr>
          <a:xfrm>
            <a:off x="1042416" y="2075688"/>
            <a:ext cx="2898649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Smart scheduling</a:t>
            </a:r>
          </a:p>
        </p:txBody>
      </p:sp>
      <p:sp>
        <p:nvSpPr>
          <p:cNvPr id="768" name="TextBox 8"/>
          <p:cNvSpPr txBox="1"/>
          <p:nvPr/>
        </p:nvSpPr>
        <p:spPr>
          <a:xfrm>
            <a:off x="1042416" y="2532887"/>
            <a:ext cx="2898649" cy="355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spcBef>
                <a:spcPts val="400"/>
              </a:spcBef>
              <a:defRPr sz="12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Demand forecasting for slots, seats &amp; staffing across branches.</a:t>
            </a:r>
          </a:p>
        </p:txBody>
      </p:sp>
      <p:sp>
        <p:nvSpPr>
          <p:cNvPr id="769" name="Rounded Rectangle 9"/>
          <p:cNvSpPr/>
          <p:nvPr/>
        </p:nvSpPr>
        <p:spPr>
          <a:xfrm>
            <a:off x="4389120" y="1874518"/>
            <a:ext cx="3310129" cy="1691641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0" name="Rectangle 10"/>
          <p:cNvSpPr/>
          <p:nvPr/>
        </p:nvSpPr>
        <p:spPr>
          <a:xfrm>
            <a:off x="4389120" y="1874518"/>
            <a:ext cx="3310129" cy="6400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1" name="TextBox 11"/>
          <p:cNvSpPr txBox="1"/>
          <p:nvPr/>
        </p:nvSpPr>
        <p:spPr>
          <a:xfrm>
            <a:off x="4608576" y="2075688"/>
            <a:ext cx="2898649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Demand &amp; revenue forecasting</a:t>
            </a:r>
          </a:p>
        </p:txBody>
      </p:sp>
      <p:sp>
        <p:nvSpPr>
          <p:cNvPr id="772" name="TextBox 12"/>
          <p:cNvSpPr txBox="1"/>
          <p:nvPr/>
        </p:nvSpPr>
        <p:spPr>
          <a:xfrm>
            <a:off x="4608576" y="2532887"/>
            <a:ext cx="2898649" cy="538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spcBef>
                <a:spcPts val="400"/>
              </a:spcBef>
              <a:defRPr sz="12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Project future demand, revenue, and transaction volumes so clients can plan capacity, cash, and staffing ahead.</a:t>
            </a:r>
          </a:p>
        </p:txBody>
      </p:sp>
      <p:sp>
        <p:nvSpPr>
          <p:cNvPr id="773" name="Rounded Rectangle 13"/>
          <p:cNvSpPr/>
          <p:nvPr/>
        </p:nvSpPr>
        <p:spPr>
          <a:xfrm>
            <a:off x="7955280" y="1874518"/>
            <a:ext cx="3310129" cy="1691641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4" name="Rectangle 14"/>
          <p:cNvSpPr/>
          <p:nvPr/>
        </p:nvSpPr>
        <p:spPr>
          <a:xfrm>
            <a:off x="7955280" y="1874518"/>
            <a:ext cx="3310129" cy="6400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5" name="TextBox 15"/>
          <p:cNvSpPr txBox="1"/>
          <p:nvPr/>
        </p:nvSpPr>
        <p:spPr>
          <a:xfrm>
            <a:off x="8174735" y="2075688"/>
            <a:ext cx="2898649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Review sentiment</a:t>
            </a:r>
          </a:p>
        </p:txBody>
      </p:sp>
      <p:sp>
        <p:nvSpPr>
          <p:cNvPr id="776" name="TextBox 16"/>
          <p:cNvSpPr txBox="1"/>
          <p:nvPr/>
        </p:nvSpPr>
        <p:spPr>
          <a:xfrm>
            <a:off x="8174735" y="2532887"/>
            <a:ext cx="2898649" cy="355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spcBef>
                <a:spcPts val="400"/>
              </a:spcBef>
              <a:defRPr sz="12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AI model can summarizes customer feedback into actionable insight.</a:t>
            </a:r>
          </a:p>
        </p:txBody>
      </p:sp>
      <p:sp>
        <p:nvSpPr>
          <p:cNvPr id="777" name="Rounded Rectangle 17"/>
          <p:cNvSpPr/>
          <p:nvPr/>
        </p:nvSpPr>
        <p:spPr>
          <a:xfrm>
            <a:off x="822960" y="3858767"/>
            <a:ext cx="3310129" cy="1691641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8" name="Rectangle 18"/>
          <p:cNvSpPr/>
          <p:nvPr/>
        </p:nvSpPr>
        <p:spPr>
          <a:xfrm>
            <a:off x="822959" y="3858767"/>
            <a:ext cx="3310130" cy="6400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9" name="TextBox 19"/>
          <p:cNvSpPr txBox="1"/>
          <p:nvPr/>
        </p:nvSpPr>
        <p:spPr>
          <a:xfrm>
            <a:off x="1042416" y="4059935"/>
            <a:ext cx="2898649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Conversational booking</a:t>
            </a:r>
          </a:p>
        </p:txBody>
      </p:sp>
      <p:sp>
        <p:nvSpPr>
          <p:cNvPr id="780" name="TextBox 20"/>
          <p:cNvSpPr txBox="1"/>
          <p:nvPr/>
        </p:nvSpPr>
        <p:spPr>
          <a:xfrm>
            <a:off x="1042416" y="4517135"/>
            <a:ext cx="2898649" cy="35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spcBef>
                <a:spcPts val="400"/>
              </a:spcBef>
              <a:defRPr sz="12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Chat / voice assistant that books, reschedules &amp; answers questions.</a:t>
            </a:r>
          </a:p>
        </p:txBody>
      </p:sp>
      <p:sp>
        <p:nvSpPr>
          <p:cNvPr id="781" name="Rounded Rectangle 21"/>
          <p:cNvSpPr/>
          <p:nvPr/>
        </p:nvSpPr>
        <p:spPr>
          <a:xfrm>
            <a:off x="4389120" y="3858767"/>
            <a:ext cx="3310129" cy="1691641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2" name="Rectangle 22"/>
          <p:cNvSpPr/>
          <p:nvPr/>
        </p:nvSpPr>
        <p:spPr>
          <a:xfrm>
            <a:off x="4389120" y="3858767"/>
            <a:ext cx="3310129" cy="6400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3" name="TextBox 23"/>
          <p:cNvSpPr txBox="1"/>
          <p:nvPr/>
        </p:nvSpPr>
        <p:spPr>
          <a:xfrm>
            <a:off x="4608576" y="4059935"/>
            <a:ext cx="2898649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Document &amp; KYC</a:t>
            </a:r>
          </a:p>
        </p:txBody>
      </p:sp>
      <p:sp>
        <p:nvSpPr>
          <p:cNvPr id="784" name="TextBox 24"/>
          <p:cNvSpPr txBox="1"/>
          <p:nvPr/>
        </p:nvSpPr>
        <p:spPr>
          <a:xfrm>
            <a:off x="4608576" y="4517135"/>
            <a:ext cx="2898649" cy="35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spcBef>
                <a:spcPts val="400"/>
              </a:spcBef>
              <a:defRPr sz="12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Vision + LLM extraction for onboarding and compliance at banks.</a:t>
            </a:r>
          </a:p>
        </p:txBody>
      </p:sp>
      <p:sp>
        <p:nvSpPr>
          <p:cNvPr id="785" name="Rounded Rectangle 25"/>
          <p:cNvSpPr/>
          <p:nvPr/>
        </p:nvSpPr>
        <p:spPr>
          <a:xfrm>
            <a:off x="7955280" y="3858767"/>
            <a:ext cx="3310129" cy="1691641"/>
          </a:xfrm>
          <a:prstGeom prst="roundRect">
            <a:avLst>
              <a:gd name="adj" fmla="val 8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6" name="Rectangle 26"/>
          <p:cNvSpPr/>
          <p:nvPr/>
        </p:nvSpPr>
        <p:spPr>
          <a:xfrm>
            <a:off x="7955280" y="3858767"/>
            <a:ext cx="3310129" cy="64009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7" name="TextBox 27"/>
          <p:cNvSpPr txBox="1"/>
          <p:nvPr/>
        </p:nvSpPr>
        <p:spPr>
          <a:xfrm>
            <a:off x="8174735" y="4059935"/>
            <a:ext cx="2898649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5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Risk &amp; anomaly signals</a:t>
            </a:r>
          </a:p>
        </p:txBody>
      </p:sp>
      <p:sp>
        <p:nvSpPr>
          <p:cNvPr id="788" name="TextBox 28"/>
          <p:cNvSpPr txBox="1"/>
          <p:nvPr/>
        </p:nvSpPr>
        <p:spPr>
          <a:xfrm>
            <a:off x="8174735" y="4517135"/>
            <a:ext cx="2898649" cy="355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3000"/>
              </a:lnSpc>
              <a:spcBef>
                <a:spcPts val="400"/>
              </a:spcBef>
              <a:defRPr sz="12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Flag unusual booking / transaction patterns for review.</a:t>
            </a:r>
          </a:p>
        </p:txBody>
      </p:sp>
      <p:sp>
        <p:nvSpPr>
          <p:cNvPr id="789" name="TextBox 29"/>
          <p:cNvSpPr txBox="1"/>
          <p:nvPr/>
        </p:nvSpPr>
        <p:spPr>
          <a:xfrm>
            <a:off x="822960" y="6172200"/>
            <a:ext cx="1051560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13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Delivered with AI models — API for scale, on-device / private deployment for sensitive banking data.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Rectangle 1"/>
          <p:cNvSpPr/>
          <p:nvPr/>
        </p:nvSpPr>
        <p:spPr>
          <a:xfrm>
            <a:off x="-1" y="0"/>
            <a:ext cx="4023361" cy="6858000"/>
          </a:xfrm>
          <a:prstGeom prst="rect">
            <a:avLst/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2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3" name="TextBox 3"/>
          <p:cNvSpPr txBox="1"/>
          <p:nvPr/>
        </p:nvSpPr>
        <p:spPr>
          <a:xfrm>
            <a:off x="822959" y="2148839"/>
            <a:ext cx="2926082" cy="1702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0">
                <a:solidFill>
                  <a:srgbClr val="E12D3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794" name="Rectangle 4"/>
          <p:cNvSpPr/>
          <p:nvPr/>
        </p:nvSpPr>
        <p:spPr>
          <a:xfrm>
            <a:off x="4480559" y="2743200"/>
            <a:ext cx="82297" cy="1371600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5" name="TextBox 5"/>
          <p:cNvSpPr txBox="1"/>
          <p:nvPr/>
        </p:nvSpPr>
        <p:spPr>
          <a:xfrm>
            <a:off x="4754879" y="3060119"/>
            <a:ext cx="6766561" cy="55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4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Roadmap &amp; Future</a:t>
            </a:r>
          </a:p>
        </p:txBody>
      </p:sp>
      <p:sp>
        <p:nvSpPr>
          <p:cNvPr id="796" name="TextBox 6"/>
          <p:cNvSpPr txBox="1"/>
          <p:nvPr/>
        </p:nvSpPr>
        <p:spPr>
          <a:xfrm>
            <a:off x="4754879" y="3977638"/>
            <a:ext cx="6766561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sz="1700">
                <a:solidFill>
                  <a:srgbClr val="A6A8B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it takes to go from practice to production</a:t>
            </a:r>
          </a:p>
        </p:txBody>
      </p:sp>
      <p:sp>
        <p:nvSpPr>
          <p:cNvPr id="797" name="TextBox 7"/>
          <p:cNvSpPr txBox="1"/>
          <p:nvPr/>
        </p:nvSpPr>
        <p:spPr>
          <a:xfrm>
            <a:off x="822959" y="6126479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TICKETPLEASE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0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1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ROADMAP</a:t>
            </a:r>
          </a:p>
        </p:txBody>
      </p:sp>
      <p:sp>
        <p:nvSpPr>
          <p:cNvPr id="802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What are not present in the app</a:t>
            </a:r>
          </a:p>
        </p:txBody>
      </p:sp>
      <p:sp>
        <p:nvSpPr>
          <p:cNvPr id="803" name="Rectangle 5"/>
          <p:cNvSpPr/>
          <p:nvPr/>
        </p:nvSpPr>
        <p:spPr>
          <a:xfrm>
            <a:off x="822960" y="1897379"/>
            <a:ext cx="100585" cy="100585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4" name="TextBox 6"/>
          <p:cNvSpPr txBox="1"/>
          <p:nvPr/>
        </p:nvSpPr>
        <p:spPr>
          <a:xfrm>
            <a:off x="1115567" y="1801367"/>
            <a:ext cx="1013155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Real Backend &amp; shared DB — </a:t>
            </a:r>
            <a:r>
              <a:rPr b="0">
                <a:solidFill>
                  <a:srgbClr val="F3F3F5"/>
                </a:solidFill>
              </a:rPr>
              <a:t>accounts, inventory, bookings, reviews across devices</a:t>
            </a:r>
          </a:p>
        </p:txBody>
      </p:sp>
      <p:sp>
        <p:nvSpPr>
          <p:cNvPr id="805" name="Rectangle 7"/>
          <p:cNvSpPr/>
          <p:nvPr/>
        </p:nvSpPr>
        <p:spPr>
          <a:xfrm>
            <a:off x="822960" y="2647188"/>
            <a:ext cx="100585" cy="100585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6" name="TextBox 8"/>
          <p:cNvSpPr txBox="1"/>
          <p:nvPr/>
        </p:nvSpPr>
        <p:spPr>
          <a:xfrm>
            <a:off x="1115567" y="2551176"/>
            <a:ext cx="1013155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Server authentication — </a:t>
            </a:r>
            <a:r>
              <a:rPr b="0">
                <a:solidFill>
                  <a:srgbClr val="F3F3F5"/>
                </a:solidFill>
              </a:rPr>
              <a:t>hashing, token refresh, revocation, account recovery</a:t>
            </a:r>
          </a:p>
        </p:txBody>
      </p:sp>
      <p:sp>
        <p:nvSpPr>
          <p:cNvPr id="807" name="Rectangle 9"/>
          <p:cNvSpPr/>
          <p:nvPr/>
        </p:nvSpPr>
        <p:spPr>
          <a:xfrm>
            <a:off x="822960" y="3396996"/>
            <a:ext cx="100585" cy="100585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8" name="TextBox 10"/>
          <p:cNvSpPr txBox="1"/>
          <p:nvPr/>
        </p:nvSpPr>
        <p:spPr>
          <a:xfrm>
            <a:off x="1115567" y="3300984"/>
            <a:ext cx="1013155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Transactional locking — </a:t>
            </a:r>
            <a:r>
              <a:rPr b="0">
                <a:solidFill>
                  <a:srgbClr val="F3F3F5"/>
                </a:solidFill>
              </a:rPr>
              <a:t>prevent two devices buying the same seat / ticket</a:t>
            </a:r>
          </a:p>
        </p:txBody>
      </p:sp>
      <p:sp>
        <p:nvSpPr>
          <p:cNvPr id="809" name="Rectangle 11"/>
          <p:cNvSpPr/>
          <p:nvPr/>
        </p:nvSpPr>
        <p:spPr>
          <a:xfrm>
            <a:off x="822960" y="4146803"/>
            <a:ext cx="100585" cy="100585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0" name="TextBox 12"/>
          <p:cNvSpPr txBox="1"/>
          <p:nvPr/>
        </p:nvSpPr>
        <p:spPr>
          <a:xfrm>
            <a:off x="1115567" y="4050791"/>
            <a:ext cx="1013155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PCI-compliant payments — </a:t>
            </a:r>
            <a:r>
              <a:rPr b="0">
                <a:solidFill>
                  <a:srgbClr val="F3F3F5"/>
                </a:solidFill>
              </a:rPr>
              <a:t>never store card data on-device</a:t>
            </a:r>
          </a:p>
        </p:txBody>
      </p:sp>
      <p:sp>
        <p:nvSpPr>
          <p:cNvPr id="811" name="Rectangle 13"/>
          <p:cNvSpPr/>
          <p:nvPr/>
        </p:nvSpPr>
        <p:spPr>
          <a:xfrm>
            <a:off x="822960" y="4896611"/>
            <a:ext cx="100585" cy="100585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2" name="TextBox 14"/>
          <p:cNvSpPr txBox="1"/>
          <p:nvPr/>
        </p:nvSpPr>
        <p:spPr>
          <a:xfrm>
            <a:off x="1115567" y="4800600"/>
            <a:ext cx="1013155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Server-driven APNs — </a:t>
            </a:r>
            <a:r>
              <a:rPr b="0">
                <a:solidFill>
                  <a:srgbClr val="F3F3F5"/>
                </a:solidFill>
              </a:rPr>
              <a:t>cancellations, schedule changes, transfers</a:t>
            </a:r>
          </a:p>
        </p:txBody>
      </p:sp>
      <p:sp>
        <p:nvSpPr>
          <p:cNvPr id="813" name="Rectangle 15"/>
          <p:cNvSpPr/>
          <p:nvPr/>
        </p:nvSpPr>
        <p:spPr>
          <a:xfrm>
            <a:off x="822960" y="5646420"/>
            <a:ext cx="100585" cy="100585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4" name="TextBox 16"/>
          <p:cNvSpPr txBox="1"/>
          <p:nvPr/>
        </p:nvSpPr>
        <p:spPr>
          <a:xfrm>
            <a:off x="1115567" y="5550408"/>
            <a:ext cx="1013155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6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Governance — </a:t>
            </a:r>
            <a:r>
              <a:rPr b="0">
                <a:solidFill>
                  <a:srgbClr val="F3F3F5"/>
                </a:solidFill>
              </a:rPr>
              <a:t>review moderation, privacy policy, licensing &amp; attribution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7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18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ROADMAP</a:t>
            </a:r>
          </a:p>
        </p:txBody>
      </p:sp>
      <p:sp>
        <p:nvSpPr>
          <p:cNvPr id="819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Future development &amp; improvements</a:t>
            </a:r>
          </a:p>
        </p:txBody>
      </p:sp>
      <p:sp>
        <p:nvSpPr>
          <p:cNvPr id="820" name="Rounded Rectangle 5"/>
          <p:cNvSpPr/>
          <p:nvPr/>
        </p:nvSpPr>
        <p:spPr>
          <a:xfrm>
            <a:off x="822960" y="1874518"/>
            <a:ext cx="3401568" cy="393192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1" name="Rounded Rectangle 6"/>
          <p:cNvSpPr/>
          <p:nvPr/>
        </p:nvSpPr>
        <p:spPr>
          <a:xfrm>
            <a:off x="822960" y="1874518"/>
            <a:ext cx="3401568" cy="566929"/>
          </a:xfrm>
          <a:prstGeom prst="roundRect">
            <a:avLst>
              <a:gd name="adj" fmla="val 6000"/>
            </a:avLst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2" name="TextBox 7"/>
          <p:cNvSpPr txBox="1"/>
          <p:nvPr/>
        </p:nvSpPr>
        <p:spPr>
          <a:xfrm>
            <a:off x="1051559" y="2047006"/>
            <a:ext cx="303581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Platform</a:t>
            </a:r>
          </a:p>
        </p:txBody>
      </p:sp>
      <p:sp>
        <p:nvSpPr>
          <p:cNvPr id="823" name="Rectangle 8"/>
          <p:cNvSpPr/>
          <p:nvPr/>
        </p:nvSpPr>
        <p:spPr>
          <a:xfrm>
            <a:off x="1051560" y="2738627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4" name="TextBox 9"/>
          <p:cNvSpPr txBox="1"/>
          <p:nvPr/>
        </p:nvSpPr>
        <p:spPr>
          <a:xfrm>
            <a:off x="1344167" y="2642616"/>
            <a:ext cx="2697481" cy="37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Swap local JSON → cloud backend + sync</a:t>
            </a:r>
          </a:p>
        </p:txBody>
      </p:sp>
      <p:sp>
        <p:nvSpPr>
          <p:cNvPr id="825" name="Rectangle 10"/>
          <p:cNvSpPr/>
          <p:nvPr/>
        </p:nvSpPr>
        <p:spPr>
          <a:xfrm>
            <a:off x="1051560" y="3607308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6" name="TextBox 11"/>
          <p:cNvSpPr txBox="1"/>
          <p:nvPr/>
        </p:nvSpPr>
        <p:spPr>
          <a:xfrm>
            <a:off x="1344167" y="3511296"/>
            <a:ext cx="2697481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Real ticketing &amp; payment integration</a:t>
            </a:r>
          </a:p>
        </p:txBody>
      </p:sp>
      <p:sp>
        <p:nvSpPr>
          <p:cNvPr id="827" name="Rectangle 12"/>
          <p:cNvSpPr/>
          <p:nvPr/>
        </p:nvSpPr>
        <p:spPr>
          <a:xfrm>
            <a:off x="1051560" y="4475988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8" name="TextBox 13"/>
          <p:cNvSpPr txBox="1"/>
          <p:nvPr/>
        </p:nvSpPr>
        <p:spPr>
          <a:xfrm>
            <a:off x="1344167" y="4379976"/>
            <a:ext cx="2697481" cy="57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CI/CD (Continuous Integration/Continuous Deployment), analytics &amp; crash reporting</a:t>
            </a:r>
          </a:p>
        </p:txBody>
      </p:sp>
      <p:sp>
        <p:nvSpPr>
          <p:cNvPr id="829" name="Rounded Rectangle 14"/>
          <p:cNvSpPr/>
          <p:nvPr/>
        </p:nvSpPr>
        <p:spPr>
          <a:xfrm>
            <a:off x="4498847" y="1874518"/>
            <a:ext cx="3401569" cy="393192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Rounded Rectangle 15"/>
          <p:cNvSpPr/>
          <p:nvPr/>
        </p:nvSpPr>
        <p:spPr>
          <a:xfrm>
            <a:off x="4498847" y="1874518"/>
            <a:ext cx="3401569" cy="566929"/>
          </a:xfrm>
          <a:prstGeom prst="roundRect">
            <a:avLst>
              <a:gd name="adj" fmla="val 6000"/>
            </a:avLst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1" name="TextBox 16"/>
          <p:cNvSpPr txBox="1"/>
          <p:nvPr/>
        </p:nvSpPr>
        <p:spPr>
          <a:xfrm>
            <a:off x="4727447" y="2047006"/>
            <a:ext cx="3035809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Intelligence</a:t>
            </a:r>
          </a:p>
        </p:txBody>
      </p:sp>
      <p:sp>
        <p:nvSpPr>
          <p:cNvPr id="832" name="Rectangle 17"/>
          <p:cNvSpPr/>
          <p:nvPr/>
        </p:nvSpPr>
        <p:spPr>
          <a:xfrm>
            <a:off x="4727447" y="2738627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3" name="TextBox 18"/>
          <p:cNvSpPr txBox="1"/>
          <p:nvPr/>
        </p:nvSpPr>
        <p:spPr>
          <a:xfrm>
            <a:off x="5020055" y="2642616"/>
            <a:ext cx="2697482" cy="37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Recommendations &amp; smart scheduling</a:t>
            </a:r>
          </a:p>
        </p:txBody>
      </p:sp>
      <p:sp>
        <p:nvSpPr>
          <p:cNvPr id="834" name="Rectangle 19"/>
          <p:cNvSpPr/>
          <p:nvPr/>
        </p:nvSpPr>
        <p:spPr>
          <a:xfrm>
            <a:off x="4727447" y="3607308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TextBox 20"/>
          <p:cNvSpPr txBox="1"/>
          <p:nvPr/>
        </p:nvSpPr>
        <p:spPr>
          <a:xfrm>
            <a:off x="5020055" y="3511296"/>
            <a:ext cx="26974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Conversational booking assistant</a:t>
            </a:r>
          </a:p>
        </p:txBody>
      </p:sp>
      <p:sp>
        <p:nvSpPr>
          <p:cNvPr id="836" name="Rectangle 21"/>
          <p:cNvSpPr/>
          <p:nvPr/>
        </p:nvSpPr>
        <p:spPr>
          <a:xfrm>
            <a:off x="4727447" y="4475988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7" name="TextBox 22"/>
          <p:cNvSpPr txBox="1"/>
          <p:nvPr/>
        </p:nvSpPr>
        <p:spPr>
          <a:xfrm>
            <a:off x="5020055" y="4379976"/>
            <a:ext cx="2697482" cy="1850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Review sentiment with AI model</a:t>
            </a:r>
          </a:p>
        </p:txBody>
      </p:sp>
      <p:sp>
        <p:nvSpPr>
          <p:cNvPr id="838" name="Rounded Rectangle 23"/>
          <p:cNvSpPr/>
          <p:nvPr/>
        </p:nvSpPr>
        <p:spPr>
          <a:xfrm>
            <a:off x="8174735" y="1874518"/>
            <a:ext cx="3401569" cy="3931921"/>
          </a:xfrm>
          <a:prstGeom prst="roundRect">
            <a:avLst>
              <a:gd name="adj" fmla="val 6000"/>
            </a:avLst>
          </a:prstGeom>
          <a:solidFill>
            <a:srgbClr val="1A1A2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Rounded Rectangle 24"/>
          <p:cNvSpPr/>
          <p:nvPr/>
        </p:nvSpPr>
        <p:spPr>
          <a:xfrm>
            <a:off x="8174735" y="1874518"/>
            <a:ext cx="3401569" cy="566929"/>
          </a:xfrm>
          <a:prstGeom prst="roundRect">
            <a:avLst>
              <a:gd name="adj" fmla="val 6000"/>
            </a:avLst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0" name="TextBox 25"/>
          <p:cNvSpPr txBox="1"/>
          <p:nvPr/>
        </p:nvSpPr>
        <p:spPr>
          <a:xfrm>
            <a:off x="8403335" y="2047006"/>
            <a:ext cx="303581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4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Craft</a:t>
            </a:r>
          </a:p>
        </p:txBody>
      </p:sp>
      <p:sp>
        <p:nvSpPr>
          <p:cNvPr id="841" name="Rectangle 26"/>
          <p:cNvSpPr/>
          <p:nvPr/>
        </p:nvSpPr>
        <p:spPr>
          <a:xfrm>
            <a:off x="8403335" y="2738627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2" name="TextBox 27"/>
          <p:cNvSpPr txBox="1"/>
          <p:nvPr/>
        </p:nvSpPr>
        <p:spPr>
          <a:xfrm>
            <a:off x="8695943" y="2642616"/>
            <a:ext cx="2697481" cy="37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Accessibility: VoiceOver + Dynamic Type</a:t>
            </a:r>
          </a:p>
        </p:txBody>
      </p:sp>
      <p:sp>
        <p:nvSpPr>
          <p:cNvPr id="843" name="Rectangle 28"/>
          <p:cNvSpPr/>
          <p:nvPr/>
        </p:nvSpPr>
        <p:spPr>
          <a:xfrm>
            <a:off x="8403335" y="3607308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4" name="TextBox 29"/>
          <p:cNvSpPr txBox="1"/>
          <p:nvPr/>
        </p:nvSpPr>
        <p:spPr>
          <a:xfrm>
            <a:off x="8695943" y="3511296"/>
            <a:ext cx="2697481" cy="37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Further iPad &amp; landscape support testing</a:t>
            </a:r>
          </a:p>
        </p:txBody>
      </p:sp>
      <p:sp>
        <p:nvSpPr>
          <p:cNvPr id="845" name="Rectangle 30"/>
          <p:cNvSpPr/>
          <p:nvPr/>
        </p:nvSpPr>
        <p:spPr>
          <a:xfrm>
            <a:off x="8403335" y="4475988"/>
            <a:ext cx="82297" cy="8229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6" name="TextBox 31"/>
          <p:cNvSpPr txBox="1"/>
          <p:nvPr/>
        </p:nvSpPr>
        <p:spPr>
          <a:xfrm>
            <a:off x="8695943" y="4379976"/>
            <a:ext cx="2697481" cy="5735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2000"/>
              </a:lnSpc>
              <a:spcBef>
                <a:spcPts val="400"/>
              </a:spcBef>
              <a:defRPr sz="13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Split legacy files; swap old UIKit →  with new SwiftUI ; gate Dev Mode not accessible for any user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49" name="Rectangle 2"/>
          <p:cNvSpPr/>
          <p:nvPr/>
        </p:nvSpPr>
        <p:spPr>
          <a:xfrm>
            <a:off x="822960" y="566927"/>
            <a:ext cx="82297" cy="402337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0" name="TextBox 3"/>
          <p:cNvSpPr txBox="1"/>
          <p:nvPr/>
        </p:nvSpPr>
        <p:spPr>
          <a:xfrm>
            <a:off x="1024127" y="502919"/>
            <a:ext cx="10515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12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WRAP-UP</a:t>
            </a:r>
          </a:p>
        </p:txBody>
      </p:sp>
      <p:sp>
        <p:nvSpPr>
          <p:cNvPr id="851" name="TextBox 4"/>
          <p:cNvSpPr txBox="1"/>
          <p:nvPr/>
        </p:nvSpPr>
        <p:spPr>
          <a:xfrm>
            <a:off x="1024127" y="786383"/>
            <a:ext cx="10607042" cy="419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400"/>
              </a:spcBef>
              <a:defRPr b="1" sz="3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852" name="Rectangle 5"/>
          <p:cNvSpPr/>
          <p:nvPr/>
        </p:nvSpPr>
        <p:spPr>
          <a:xfrm>
            <a:off x="822960" y="1943100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3" name="TextBox 6"/>
          <p:cNvSpPr txBox="1"/>
          <p:nvPr/>
        </p:nvSpPr>
        <p:spPr>
          <a:xfrm>
            <a:off x="1115567" y="1847088"/>
            <a:ext cx="10131553" cy="50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Full-featured &amp; well-architected. </a:t>
            </a:r>
            <a:r>
              <a:rPr b="0">
                <a:solidFill>
                  <a:srgbClr val="F3F3F5"/>
                </a:solidFill>
              </a:rPr>
              <a:t>A production-shaped iOS app built in ≈ 3-4 weeks, 11 documented milestones.</a:t>
            </a:r>
          </a:p>
        </p:txBody>
      </p:sp>
      <p:sp>
        <p:nvSpPr>
          <p:cNvPr id="854" name="Rectangle 7"/>
          <p:cNvSpPr/>
          <p:nvPr/>
        </p:nvSpPr>
        <p:spPr>
          <a:xfrm>
            <a:off x="822960" y="2839211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5" name="TextBox 8"/>
          <p:cNvSpPr txBox="1"/>
          <p:nvPr/>
        </p:nvSpPr>
        <p:spPr>
          <a:xfrm>
            <a:off x="1115567" y="2743200"/>
            <a:ext cx="10131553" cy="505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Every core competency, proven. </a:t>
            </a:r>
            <a:r>
              <a:rPr b="0">
                <a:solidFill>
                  <a:srgbClr val="F3F3F5"/>
                </a:solidFill>
              </a:rPr>
              <a:t>UIKit, MVVM, Clean Architecture, persistence, security, maps, notifications, networking.</a:t>
            </a:r>
          </a:p>
        </p:txBody>
      </p:sp>
      <p:sp>
        <p:nvSpPr>
          <p:cNvPr id="856" name="Rectangle 9"/>
          <p:cNvSpPr/>
          <p:nvPr/>
        </p:nvSpPr>
        <p:spPr>
          <a:xfrm>
            <a:off x="822960" y="3735323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TextBox 10"/>
          <p:cNvSpPr txBox="1"/>
          <p:nvPr/>
        </p:nvSpPr>
        <p:spPr>
          <a:xfrm>
            <a:off x="1115567" y="3639311"/>
            <a:ext cx="10131553" cy="50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Directly reusable. </a:t>
            </a:r>
            <a:r>
              <a:rPr b="0">
                <a:solidFill>
                  <a:srgbClr val="F3F3F5"/>
                </a:solidFill>
              </a:rPr>
              <a:t>Its patterns map 1:1 onto Seven Seven client work — booking, auth, locations, feedback.</a:t>
            </a:r>
          </a:p>
        </p:txBody>
      </p:sp>
      <p:sp>
        <p:nvSpPr>
          <p:cNvPr id="858" name="Rectangle 11"/>
          <p:cNvSpPr/>
          <p:nvPr/>
        </p:nvSpPr>
        <p:spPr>
          <a:xfrm>
            <a:off x="822960" y="4631435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9" name="TextBox 12"/>
          <p:cNvSpPr txBox="1"/>
          <p:nvPr/>
        </p:nvSpPr>
        <p:spPr>
          <a:xfrm>
            <a:off x="1115567" y="4535423"/>
            <a:ext cx="10131553" cy="505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AI-ready. </a:t>
            </a:r>
            <a:r>
              <a:rPr b="0">
                <a:solidFill>
                  <a:srgbClr val="F3F3F5"/>
                </a:solidFill>
              </a:rPr>
              <a:t>Clear insertion points for AI model use across scheduling, recommendations, support and KYC (“Know Your Customer” like from bank and financial companies term).</a:t>
            </a:r>
          </a:p>
        </p:txBody>
      </p:sp>
      <p:sp>
        <p:nvSpPr>
          <p:cNvPr id="860" name="Rectangle 13"/>
          <p:cNvSpPr/>
          <p:nvPr/>
        </p:nvSpPr>
        <p:spPr>
          <a:xfrm>
            <a:off x="822960" y="5527547"/>
            <a:ext cx="100585" cy="100585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TextBox 14"/>
          <p:cNvSpPr txBox="1"/>
          <p:nvPr/>
        </p:nvSpPr>
        <p:spPr>
          <a:xfrm>
            <a:off x="1115567" y="5431535"/>
            <a:ext cx="10131553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02000"/>
              </a:lnSpc>
              <a:spcBef>
                <a:spcPts val="400"/>
              </a:spcBef>
              <a:defRPr b="1" sz="1700">
                <a:solidFill>
                  <a:srgbClr val="F0C05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credible path forward. </a:t>
            </a:r>
            <a:r>
              <a:rPr b="0">
                <a:solidFill>
                  <a:srgbClr val="F3F3F5"/>
                </a:solidFill>
              </a:rPr>
              <a:t>From practice build → backend + payments → AI-enhanced client products.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8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Rectangle 1"/>
          <p:cNvSpPr/>
          <p:nvPr/>
        </p:nvSpPr>
        <p:spPr>
          <a:xfrm>
            <a:off x="-1" y="0"/>
            <a:ext cx="12191697" cy="128016"/>
          </a:xfrm>
          <a:prstGeom prst="rect">
            <a:avLst/>
          </a:prstGeom>
          <a:solidFill>
            <a:srgbClr val="E12D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86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0" y="1417319"/>
            <a:ext cx="1234440" cy="1234441"/>
          </a:xfrm>
          <a:prstGeom prst="rect">
            <a:avLst/>
          </a:prstGeom>
          <a:ln w="12700">
            <a:miter lim="400000"/>
          </a:ln>
        </p:spPr>
      </p:pic>
      <p:sp>
        <p:nvSpPr>
          <p:cNvPr id="865" name="TextBox 3"/>
          <p:cNvSpPr txBox="1"/>
          <p:nvPr/>
        </p:nvSpPr>
        <p:spPr>
          <a:xfrm>
            <a:off x="-1" y="2971800"/>
            <a:ext cx="12191697" cy="7649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b="1" sz="54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866" name="Rectangle 4"/>
          <p:cNvSpPr/>
          <p:nvPr/>
        </p:nvSpPr>
        <p:spPr>
          <a:xfrm>
            <a:off x="5367528" y="4023359"/>
            <a:ext cx="1463041" cy="45721"/>
          </a:xfrm>
          <a:prstGeom prst="rect">
            <a:avLst/>
          </a:prstGeom>
          <a:solidFill>
            <a:srgbClr val="F0C05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7" name="TextBox 5"/>
          <p:cNvSpPr txBox="1"/>
          <p:nvPr/>
        </p:nvSpPr>
        <p:spPr>
          <a:xfrm>
            <a:off x="-1" y="4297679"/>
            <a:ext cx="12191697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b="1" sz="2000">
                <a:solidFill>
                  <a:srgbClr val="F3F3F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Ticket</a:t>
            </a:r>
            <a:r>
              <a:rPr>
                <a:solidFill>
                  <a:srgbClr val="E12D39"/>
                </a:solidFill>
              </a:rPr>
              <a:t>Please</a:t>
            </a:r>
            <a:r>
              <a:rPr b="0">
                <a:solidFill>
                  <a:srgbClr val="A6A8B0"/>
                </a:solidFill>
              </a:rPr>
              <a:t>  —  an iOS practice build for Seven Seven Global Soft Inc.</a:t>
            </a:r>
          </a:p>
        </p:txBody>
      </p:sp>
      <p:sp>
        <p:nvSpPr>
          <p:cNvPr id="868" name="TextBox 6"/>
          <p:cNvSpPr txBox="1"/>
          <p:nvPr/>
        </p:nvSpPr>
        <p:spPr>
          <a:xfrm>
            <a:off x="-1" y="5029200"/>
            <a:ext cx="12191697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400"/>
              </a:spcBef>
              <a:defRPr sz="1500">
                <a:solidFill>
                  <a:srgbClr val="767882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Miguel Sanson   ·   miguelsanson21@gmail.com   ·   July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