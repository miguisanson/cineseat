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103120"/>
            <a:ext cx="1371600" cy="45720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457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0C05C"/>
                </a:solidFill>
                <a:latin typeface="Arial"/>
              </a:rPr>
              <a:t>MODULE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10545775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400" b="1">
                <a:solidFill>
                  <a:srgbClr val="F3F3F5"/>
                </a:solidFill>
                <a:latin typeface="Arial"/>
              </a:rPr>
              <a:t>UIKit, MVVM, Auto Layout and Table Views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A6A8B0"/>
                </a:solidFill>
                <a:latin typeface="Arial"/>
              </a:rPr>
              <a:t>Building an interface you can touch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FROM A LANGUAGE TO SOMETHING YOU CAN TOUCH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This is the longest module in the course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9459088" y="1485899"/>
            <a:ext cx="1950795" cy="4133087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72804" y="1499615"/>
            <a:ext cx="1923363" cy="4105655"/>
          </a:xfrm>
          <a:prstGeom prst="rect">
            <a:avLst/>
          </a:prstGeom>
          <a:solidFill>
            <a:srgbClr val="1A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2_movies_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0236" y="1527047"/>
            <a:ext cx="1868499" cy="405079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22960" y="2418587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33856" y="2290571"/>
            <a:ext cx="7909180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 b="1">
                <a:solidFill>
                  <a:srgbClr val="F0C05C"/>
                </a:solidFill>
                <a:latin typeface="Arial"/>
              </a:rPr>
              <a:t>Module 01 gave you a language.</a:t>
            </a:r>
            <a:r>
              <a:rPr sz="1700">
                <a:solidFill>
                  <a:srgbClr val="F3F3F5"/>
                </a:solidFill>
                <a:latin typeface="Arial"/>
              </a:rPr>
              <a:t> Types, optionals, functions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259835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33856" y="3131819"/>
            <a:ext cx="7909180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 b="1">
                <a:solidFill>
                  <a:srgbClr val="F0C05C"/>
                </a:solidFill>
                <a:latin typeface="Arial"/>
              </a:rPr>
              <a:t>Module 02 builds an interface.</a:t>
            </a:r>
            <a:r>
              <a:rPr sz="1700">
                <a:solidFill>
                  <a:srgbClr val="F3F3F5"/>
                </a:solidFill>
                <a:latin typeface="Arial"/>
              </a:rPr>
              <a:t> Screens, layout, navigation, lists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101083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33856" y="3973068"/>
            <a:ext cx="7909180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 b="1">
                <a:solidFill>
                  <a:srgbClr val="F0C05C"/>
                </a:solidFill>
                <a:latin typeface="Arial"/>
              </a:rPr>
              <a:t>This is where it starts to feel like real app development.</a:t>
            </a:r>
            <a:r>
              <a:rPr sz="1700">
                <a:solidFill>
                  <a:srgbClr val="F3F3F5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BY THE END OF THIS VIDEO YOU WILL BE ABLE TO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09343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" y="1481328"/>
            <a:ext cx="10234879" cy="8284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Explain what UIKit is and how a view controller's life cycle works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437790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2309774"/>
            <a:ext cx="10234879" cy="8284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Apply the MVVM pattern to keep logic out of your screens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266236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" y="3138220"/>
            <a:ext cx="10234879" cy="8284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Build layouts with Auto Layout constraints and stack views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094683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856" y="3966667"/>
            <a:ext cx="10234879" cy="8284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Navigate between screens with push and modal presentation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923129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856" y="4795113"/>
            <a:ext cx="10234879" cy="8284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Populate a table view using its delegate and data source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UIKIT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Apple's long-established interface framework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997963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" y="1869947"/>
            <a:ext cx="10234879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 b="1">
                <a:solidFill>
                  <a:srgbClr val="F0C05C"/>
                </a:solidFill>
                <a:latin typeface="Arial"/>
              </a:rPr>
              <a:t>Views.</a:t>
            </a:r>
            <a:r>
              <a:rPr sz="1700">
                <a:solidFill>
                  <a:srgbClr val="F3F3F5"/>
                </a:solidFill>
                <a:latin typeface="Arial"/>
              </a:rPr>
              <a:t> What is actually on screen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839211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2711195"/>
            <a:ext cx="10234879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 b="1">
                <a:solidFill>
                  <a:srgbClr val="F0C05C"/>
                </a:solidFill>
                <a:latin typeface="Arial"/>
              </a:rPr>
              <a:t>View controllers.</a:t>
            </a:r>
            <a:r>
              <a:rPr sz="1700">
                <a:solidFill>
                  <a:srgbClr val="F3F3F5"/>
                </a:solidFill>
                <a:latin typeface="Arial"/>
              </a:rPr>
              <a:t> The code behind one screen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680459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" y="3552443"/>
            <a:ext cx="10234879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 b="1">
                <a:solidFill>
                  <a:srgbClr val="F0C05C"/>
                </a:solidFill>
                <a:latin typeface="Arial"/>
              </a:rPr>
              <a:t>An event-driven model.</a:t>
            </a:r>
            <a:r>
              <a:rPr sz="1700">
                <a:solidFill>
                  <a:srgbClr val="F3F3F5"/>
                </a:solidFill>
                <a:latin typeface="Arial"/>
              </a:rPr>
              <a:t> The user acts, your code responds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521707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856" y="4393692"/>
            <a:ext cx="10234879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 b="1">
                <a:solidFill>
                  <a:srgbClr val="F0C05C"/>
                </a:solidFill>
                <a:latin typeface="Arial"/>
              </a:rPr>
              <a:t>Storyboards.</a:t>
            </a:r>
            <a:r>
              <a:rPr sz="1700">
                <a:solidFill>
                  <a:srgbClr val="F3F3F5"/>
                </a:solidFill>
                <a:latin typeface="Arial"/>
              </a:rPr>
              <a:t> A visual file where you drag controls onto a canvas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4577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3F3F5"/>
                </a:solidFill>
                <a:latin typeface="Arial"/>
              </a:rPr>
              <a:t>Where does your code go?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343400"/>
            <a:ext cx="1097280" cy="3657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A6A8B0"/>
                </a:solidFill>
                <a:latin typeface="Arial"/>
              </a:rPr>
              <a:t>This is where most beginner projects go wrong.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MVVM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Three responsibilities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482596"/>
            <a:ext cx="10545775" cy="676656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482596"/>
            <a:ext cx="45720" cy="67665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702052"/>
            <a:ext cx="10698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0C05C"/>
                </a:solidFill>
                <a:latin typeface="Menlo"/>
              </a:rPr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41448" y="2702052"/>
            <a:ext cx="86529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Holds data — Movie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195828"/>
            <a:ext cx="10545775" cy="676656"/>
          </a:xfrm>
          <a:prstGeom prst="rect">
            <a:avLst/>
          </a:prstGeom>
          <a:solidFill>
            <a:srgbClr val="2E2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195828"/>
            <a:ext cx="45720" cy="67665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415284"/>
            <a:ext cx="10698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0C05C"/>
                </a:solidFill>
                <a:latin typeface="Menlo"/>
              </a:rPr>
              <a:t>ViewModel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41448" y="3415284"/>
            <a:ext cx="86529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Owns logic and formatting — MoviesViewModel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909060"/>
            <a:ext cx="10545775" cy="676656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909060"/>
            <a:ext cx="45720" cy="67665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128515"/>
            <a:ext cx="10698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0C05C"/>
                </a:solidFill>
                <a:latin typeface="Menlo"/>
              </a:rPr>
              <a:t>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41448" y="4128515"/>
            <a:ext cx="86529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Displays only what it is handed — MoviesViewController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A REAL VIEW MODEL FROM THE APP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All the logic lives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59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A6A8B0"/>
                </a:solidFill>
                <a:latin typeface="Menlo"/>
              </a:rPr>
              <a:t>CineSeat/ViewModel/MoviesViewModels.swift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048255"/>
            <a:ext cx="10545775" cy="2551176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048255"/>
            <a:ext cx="45720" cy="255117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212847"/>
            <a:ext cx="10088575" cy="2551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F3F3F5"/>
                </a:solidFill>
                <a:latin typeface="Menlo"/>
              </a:rPr>
              <a:t>var filteredMovies: [Movie] {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F3F3F5"/>
                </a:solidFill>
                <a:latin typeface="Menlo"/>
              </a:rPr>
              <a:t>    movies.filter { movie in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F3F3F5"/>
                </a:solidFill>
                <a:latin typeface="Menlo"/>
              </a:rPr>
              <a:t>        let matchesSearch = searchText.isEmpty ||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F3F3F5"/>
                </a:solidFill>
                <a:latin typeface="Menlo"/>
              </a:rPr>
              <a:t>            movie.title.localizedCaseInsensitiveContains(searchText)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F3F3F5"/>
                </a:solidFill>
                <a:latin typeface="Menlo"/>
              </a:rPr>
              <a:t>        let matchesCategory = selectedCategory == .all ||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F3F3F5"/>
                </a:solidFill>
                <a:latin typeface="Menlo"/>
              </a:rPr>
              <a:t>            movie.category == selectedCategory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F3F3F5"/>
                </a:solidFill>
                <a:latin typeface="Menlo"/>
              </a:rPr>
              <a:t>        return matchesSearch &amp;&amp; matchesCategory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F3F3F5"/>
                </a:solidFill>
                <a:latin typeface="Menlo"/>
              </a:rPr>
              <a:t>    }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F3F3F5"/>
                </a:solidFill>
                <a:latin typeface="Menlo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818888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0C05C"/>
                </a:solidFill>
                <a:latin typeface="Arial"/>
              </a:rPr>
              <a:t>Search filtering, category filtering, rating sort — none of it in the view controller.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WHY BOTHER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Two reasons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363723"/>
            <a:ext cx="5108295" cy="2377440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363723"/>
            <a:ext cx="45720" cy="2377440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601468"/>
            <a:ext cx="4651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0C05C"/>
                </a:solidFill>
                <a:latin typeface="Arial"/>
              </a:rPr>
              <a:t>The view controller stays small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50107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Instead of becoming a dumping ground for everything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918203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Readable at a glance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0439" y="2363723"/>
            <a:ext cx="5108295" cy="2377440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0439" y="2363723"/>
            <a:ext cx="45720" cy="2377440"/>
          </a:xfrm>
          <a:prstGeom prst="rect">
            <a:avLst/>
          </a:prstGeom>
          <a:solidFill>
            <a:srgbClr val="5CC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4759" y="2601468"/>
            <a:ext cx="4651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5CC08A"/>
                </a:solidFill>
                <a:latin typeface="Arial"/>
              </a:rPr>
              <a:t>Logic in a view model can be tested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4759" y="3150107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Logic buried inside a screen cannot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4759" y="3534155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We prove exactly this in Chapter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THE RULE FOR THE REST OF THE COURSE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Nothing but display in the 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997963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" y="1869947"/>
            <a:ext cx="10234879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 b="1">
                <a:solidFill>
                  <a:srgbClr val="F0C05C"/>
                </a:solidFill>
                <a:latin typeface="Arial"/>
              </a:rPr>
              <a:t>No data handling</a:t>
            </a:r>
            <a:r>
              <a:rPr sz="1700">
                <a:solidFill>
                  <a:srgbClr val="F3F3F5"/>
                </a:solidFill>
                <a:latin typeface="Arial"/>
              </a:rPr>
              <a:t> in the 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839211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2711195"/>
            <a:ext cx="10234879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 b="1">
                <a:solidFill>
                  <a:srgbClr val="F0C05C"/>
                </a:solidFill>
                <a:latin typeface="Arial"/>
              </a:rPr>
              <a:t>No parsing</a:t>
            </a:r>
            <a:r>
              <a:rPr sz="1700">
                <a:solidFill>
                  <a:srgbClr val="F3F3F5"/>
                </a:solidFill>
                <a:latin typeface="Arial"/>
              </a:rPr>
              <a:t> in the 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680459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" y="3552443"/>
            <a:ext cx="10234879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 b="1">
                <a:solidFill>
                  <a:srgbClr val="F0C05C"/>
                </a:solidFill>
                <a:latin typeface="Arial"/>
              </a:rPr>
              <a:t>No network calls</a:t>
            </a:r>
            <a:r>
              <a:rPr sz="1700">
                <a:solidFill>
                  <a:srgbClr val="F3F3F5"/>
                </a:solidFill>
                <a:latin typeface="Arial"/>
              </a:rPr>
              <a:t> in the view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521707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856" y="4393692"/>
            <a:ext cx="10234879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 b="1">
                <a:solidFill>
                  <a:srgbClr val="F0C05C"/>
                </a:solidFill>
                <a:latin typeface="Arial"/>
              </a:rPr>
              <a:t>All of it goes in the view model.</a:t>
            </a:r>
            <a:r>
              <a:rPr sz="1700">
                <a:solidFill>
                  <a:srgbClr val="F3F3F5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THE VIEW CONTROLLER LIFE CYCLE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A fixed sequence, every screen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25979"/>
            <a:ext cx="10545775" cy="676656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25979"/>
            <a:ext cx="45720" cy="67665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45435"/>
            <a:ext cx="19232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0C05C"/>
                </a:solidFill>
                <a:latin typeface="Menlo"/>
              </a:rPr>
              <a:t>viewDidLoad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4887" y="2345435"/>
            <a:ext cx="77995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Runs once, when the screen first loads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839211"/>
            <a:ext cx="10545775" cy="676656"/>
          </a:xfrm>
          <a:prstGeom prst="rect">
            <a:avLst/>
          </a:prstGeom>
          <a:solidFill>
            <a:srgbClr val="2E2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839211"/>
            <a:ext cx="45720" cy="67665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58668"/>
            <a:ext cx="19232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0C05C"/>
                </a:solidFill>
                <a:latin typeface="Menlo"/>
              </a:rPr>
              <a:t>viewWillAppear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4887" y="3058668"/>
            <a:ext cx="77995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Runs every time the screen is about to show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552444"/>
            <a:ext cx="10545775" cy="676656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552444"/>
            <a:ext cx="45720" cy="67665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771899"/>
            <a:ext cx="19232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0C05C"/>
                </a:solidFill>
                <a:latin typeface="Menlo"/>
              </a:rPr>
              <a:t>viewDidAppear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4887" y="3771899"/>
            <a:ext cx="77995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After it is on screen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265676"/>
            <a:ext cx="10545775" cy="676656"/>
          </a:xfrm>
          <a:prstGeom prst="rect">
            <a:avLst/>
          </a:prstGeom>
          <a:solidFill>
            <a:srgbClr val="2E2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4265676"/>
            <a:ext cx="45720" cy="67665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485131"/>
            <a:ext cx="19232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0C05C"/>
                </a:solidFill>
                <a:latin typeface="Menlo"/>
              </a:rPr>
              <a:t>viewWillDisappear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4887" y="4485131"/>
            <a:ext cx="77995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As it goes away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THE TWO YOU WILL USE CONSTANTLY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Setup versus fresh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016251"/>
            <a:ext cx="5108295" cy="2505456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016251"/>
            <a:ext cx="45720" cy="250545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253995"/>
            <a:ext cx="4651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0C05C"/>
                </a:solidFill>
                <a:latin typeface="Arial"/>
              </a:rPr>
              <a:t>viewDidLoad — once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02635"/>
            <a:ext cx="4651095" cy="877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F3F3F5"/>
                </a:solidFill>
                <a:latin typeface="Menlo"/>
              </a:rPr>
              <a:t>override func viewDidLoad() {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F3F3F5"/>
                </a:solidFill>
                <a:latin typeface="Menlo"/>
              </a:rPr>
              <a:t>    super.viewDidLoad()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F3F3F5"/>
                </a:solidFill>
                <a:latin typeface="Menlo"/>
              </a:rPr>
              <a:t>    tableView.dataSource = self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F3F3F5"/>
                </a:solidFill>
                <a:latin typeface="Menlo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881627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Setup goes here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0439" y="2016251"/>
            <a:ext cx="5108295" cy="2505456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0439" y="2016251"/>
            <a:ext cx="45720" cy="250545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4759" y="2253995"/>
            <a:ext cx="4651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0C05C"/>
                </a:solidFill>
                <a:latin typeface="Arial"/>
              </a:rPr>
              <a:t>viewWillAppear — every 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4759" y="2802635"/>
            <a:ext cx="4651095" cy="877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F3F3F5"/>
                </a:solidFill>
                <a:latin typeface="Menlo"/>
              </a:rPr>
              <a:t>override func viewWillAppear(_ a: Bool) {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F3F3F5"/>
                </a:solidFill>
                <a:latin typeface="Menlo"/>
              </a:rPr>
              <a:t>    super.viewWillAppear(a)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F3F3F5"/>
                </a:solidFill>
                <a:latin typeface="Menlo"/>
              </a:rPr>
              <a:t>    reloadBookings()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F3F3F5"/>
                </a:solidFill>
                <a:latin typeface="Menlo"/>
              </a:rPr>
              <a:t>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4759" y="3881627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Fresh data each time the user returns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704588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0C05C"/>
                </a:solidFill>
                <a:latin typeface="Arial"/>
              </a:rPr>
              <a:t>Putting it in the wrong place is a classic source of stale-data bugs.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4577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3F3F5"/>
                </a:solidFill>
                <a:latin typeface="Arial"/>
              </a:rPr>
              <a:t>Auto Layout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343400"/>
            <a:ext cx="1097280" cy="3657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A6A8B0"/>
                </a:solidFill>
                <a:latin typeface="Arial"/>
              </a:rPr>
              <a:t>The part almost everyone finds hardest. If you struggle here, you are exactly where everybody else is.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WHY CONSTRAINTS EXIST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One design, many screens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81328"/>
            <a:ext cx="3344570" cy="1874519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481328"/>
            <a:ext cx="3344570" cy="45720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682495"/>
            <a:ext cx="288737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0C05C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441448"/>
            <a:ext cx="288737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3F3F5"/>
                </a:solidFill>
                <a:latin typeface="Arial"/>
              </a:rPr>
              <a:t>iPhone size, originally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807208"/>
            <a:ext cx="288737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A6A8B0"/>
                </a:solidFill>
                <a:latin typeface="Arial"/>
              </a:rPr>
              <a:t>layout was trivial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23562" y="1481328"/>
            <a:ext cx="3344570" cy="1874519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23562" y="1481328"/>
            <a:ext cx="3344570" cy="45720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79594" y="1682495"/>
            <a:ext cx="288737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0C05C"/>
                </a:solidFill>
                <a:latin typeface="Arial"/>
              </a:rPr>
              <a:t>5+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9594" y="2441448"/>
            <a:ext cx="288737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3F3F5"/>
                </a:solidFill>
                <a:latin typeface="Arial"/>
              </a:rPr>
              <a:t>sizes today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9594" y="2807208"/>
            <a:ext cx="288737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A6A8B0"/>
                </a:solidFill>
                <a:latin typeface="Arial"/>
              </a:rPr>
              <a:t>SE · standard · Pro · Max · iPad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24164" y="1481328"/>
            <a:ext cx="3344570" cy="1874519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24164" y="1481328"/>
            <a:ext cx="3344570" cy="45720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80196" y="1682495"/>
            <a:ext cx="288737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0C05C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0196" y="2441448"/>
            <a:ext cx="288737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3F3F5"/>
                </a:solidFill>
                <a:latin typeface="Arial"/>
              </a:rPr>
              <a:t>system that scales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0196" y="2807208"/>
            <a:ext cx="288737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A6A8B0"/>
                </a:solidFill>
                <a:latin typeface="Arial"/>
              </a:rPr>
              <a:t>constraints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TWO PIECES OF VOCABULARY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Origin, leading and trailing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997963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" y="1869947"/>
            <a:ext cx="10234879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 b="1">
                <a:solidFill>
                  <a:srgbClr val="F0C05C"/>
                </a:solidFill>
                <a:latin typeface="Arial"/>
              </a:rPr>
              <a:t>The origin.</a:t>
            </a:r>
            <a:r>
              <a:rPr sz="1700">
                <a:solidFill>
                  <a:srgbClr val="F3F3F5"/>
                </a:solidFill>
                <a:latin typeface="Arial"/>
              </a:rPr>
              <a:t> Zero, zero is the top-left corner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839211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2711195"/>
            <a:ext cx="10234879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 b="1">
                <a:solidFill>
                  <a:srgbClr val="F0C05C"/>
                </a:solidFill>
                <a:latin typeface="Arial"/>
              </a:rPr>
              <a:t>Leading and trailing</a:t>
            </a:r>
            <a:r>
              <a:rPr sz="1700">
                <a:solidFill>
                  <a:srgbClr val="F3F3F5"/>
                </a:solidFill>
                <a:latin typeface="Arial"/>
              </a:rPr>
              <a:t>, not left and right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680459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" y="3552443"/>
            <a:ext cx="10234879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 b="1">
                <a:solidFill>
                  <a:srgbClr val="F0C05C"/>
                </a:solidFill>
                <a:latin typeface="Arial"/>
              </a:rPr>
              <a:t>They follow reading direction</a:t>
            </a:r>
            <a:r>
              <a:rPr sz="1700">
                <a:solidFill>
                  <a:srgbClr val="F3F3F5"/>
                </a:solidFill>
                <a:latin typeface="Arial"/>
              </a:rPr>
              <a:t>, so the same layout works right-to-left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521707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856" y="4393692"/>
            <a:ext cx="10234879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You change nothing to support Arabic or Hebrew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THE TECHNIQUE THAT MAKES CONSTRAINTS MANAGEABLE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Stack views</a:t>
            </a:r>
          </a:p>
        </p:txBody>
      </p:sp>
      <p:sp>
        <p:nvSpPr>
          <p:cNvPr id="6" name="Rectangle 5"/>
          <p:cNvSpPr/>
          <p:nvPr/>
        </p:nvSpPr>
        <p:spPr>
          <a:xfrm>
            <a:off x="9480177" y="1440180"/>
            <a:ext cx="1929705" cy="4087367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93893" y="1453895"/>
            <a:ext cx="1902273" cy="4059935"/>
          </a:xfrm>
          <a:prstGeom prst="rect">
            <a:avLst/>
          </a:prstGeom>
          <a:solidFill>
            <a:srgbClr val="1A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7_seat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1325" y="1481328"/>
            <a:ext cx="1847409" cy="400507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22960" y="1673352"/>
            <a:ext cx="100584" cy="100584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572768"/>
            <a:ext cx="803999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**This seat map** is rows of seats inside a vertical stack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478024"/>
            <a:ext cx="100584" cy="100584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377440"/>
            <a:ext cx="803999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**Constrain the stack**, not every individual seat button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282696"/>
            <a:ext cx="100584" cy="100584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182112"/>
            <a:ext cx="803999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**One set of constraints** instead of dozens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685032"/>
            <a:ext cx="100584" cy="100584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584448"/>
            <a:ext cx="803999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It handles what is inside for you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IF YOU GET STUCK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Do not let constraints block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043683"/>
            <a:ext cx="10545775" cy="859536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043683"/>
            <a:ext cx="45720" cy="85953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244851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0C05C"/>
                </a:solidFill>
                <a:latin typeface="Menl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226563"/>
            <a:ext cx="92656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F3F3F5"/>
                </a:solidFill>
                <a:latin typeface="Arial"/>
              </a:rPr>
              <a:t>Build the working flow first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049523"/>
            <a:ext cx="10545775" cy="859536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049523"/>
            <a:ext cx="45720" cy="85953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250691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0C05C"/>
                </a:solidFill>
                <a:latin typeface="Menlo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232403"/>
            <a:ext cx="92656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F3F3F5"/>
                </a:solidFill>
                <a:latin typeface="Arial"/>
              </a:rPr>
              <a:t>Treat layout polish as a finishing pass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055363"/>
            <a:ext cx="10545775" cy="859536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4055363"/>
            <a:ext cx="45720" cy="85953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56531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0C05C"/>
                </a:solidFill>
                <a:latin typeface="Menlo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4238243"/>
            <a:ext cx="92656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F3F3F5"/>
                </a:solidFill>
                <a:latin typeface="Arial"/>
              </a:rPr>
              <a:t>Group things into stacks before you start constraining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4577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3F3F5"/>
                </a:solidFill>
                <a:latin typeface="Arial"/>
              </a:rPr>
              <a:t>Moving between screens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343400"/>
            <a:ext cx="1097280" cy="3657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A6A8B0"/>
                </a:solidFill>
                <a:latin typeface="Arial"/>
              </a:rPr>
              <a:t>Three ways — two of them worth using.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THE TWO WORTH USING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Push and modal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363723"/>
            <a:ext cx="5108295" cy="2377440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363723"/>
            <a:ext cx="45720" cy="2377440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601468"/>
            <a:ext cx="4651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0C05C"/>
                </a:solidFill>
                <a:latin typeface="Arial"/>
              </a:rPr>
              <a:t>Push navigation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50107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Slides in from the right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534155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Gives you a back button automatically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918203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For going deeper into a hierarchy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0439" y="2363723"/>
            <a:ext cx="5108295" cy="2377440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0439" y="2363723"/>
            <a:ext cx="45720" cy="2377440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4759" y="2601468"/>
            <a:ext cx="4651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0C05C"/>
                </a:solidFill>
                <a:latin typeface="Arial"/>
              </a:rPr>
              <a:t>Modal presentation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4759" y="3150107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Slides up from the bottom, sits on top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4759" y="3534155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Good for an about screen or a dialog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THE THIRD 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Segues constrain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263139"/>
            <a:ext cx="5108295" cy="2578608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263139"/>
            <a:ext cx="45720" cy="2578608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500883"/>
            <a:ext cx="4651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E12D39"/>
                </a:solidFill>
                <a:latin typeface="Arial"/>
              </a:rPr>
              <a:t>A segue cannot jump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49523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Drawn in the storyboard, no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433571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Forces you through the hierarchy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817620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Five screens deep, it cannot jump back to screen two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0439" y="2263139"/>
            <a:ext cx="5108295" cy="2578608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0439" y="2263139"/>
            <a:ext cx="45720" cy="2578608"/>
          </a:xfrm>
          <a:prstGeom prst="rect">
            <a:avLst/>
          </a:prstGeom>
          <a:solidFill>
            <a:srgbClr val="5CC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4759" y="2500883"/>
            <a:ext cx="4651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5CC08A"/>
                </a:solidFill>
                <a:latin typeface="Arial"/>
              </a:rPr>
              <a:t>Code can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4759" y="3049523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Navigation in code goes anywhere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4759" y="3433571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This is why the course does it in code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ONE GOTCHA THAT WILL COST YOU AN AFTERNOON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Push does nothing outside a navigation controller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490596"/>
            <a:ext cx="10545775" cy="1666494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490596"/>
            <a:ext cx="45720" cy="1666494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655188"/>
            <a:ext cx="10088575" cy="16664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F3F3F5"/>
                </a:solidFill>
                <a:latin typeface="Menlo"/>
              </a:rPr>
              <a:t>navigationController?.pushViewController(detail, animated: true)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F3F3F5"/>
                </a:solidFill>
                <a:latin typeface="Menlo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F3F3F5"/>
                </a:solidFill>
                <a:latin typeface="Menlo"/>
              </a:rPr>
              <a:t>// the code is correct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F3F3F5"/>
                </a:solidFill>
                <a:latin typeface="Menlo"/>
              </a:rPr>
              <a:t>// the button does nothing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F3F3F5"/>
                </a:solidFill>
                <a:latin typeface="Menlo"/>
              </a:rPr>
              <a:t>// there is no error message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376547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0C05C"/>
                </a:solidFill>
                <a:latin typeface="Arial"/>
              </a:rPr>
              <a:t>If that happens to you — the screen is not inside a navigation controller.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FINALLY, TABLE VIEWS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Table or collection?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363723"/>
            <a:ext cx="5108295" cy="2377440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363723"/>
            <a:ext cx="45720" cy="2377440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601468"/>
            <a:ext cx="4651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0C05C"/>
                </a:solidFill>
                <a:latin typeface="Arial"/>
              </a:rPr>
              <a:t>Table 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50107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A single scrolling column of rows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534155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Like a social media feed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918203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Far more common — our focus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0439" y="2363723"/>
            <a:ext cx="5108295" cy="2377440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0439" y="2363723"/>
            <a:ext cx="45720" cy="2377440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4759" y="2601468"/>
            <a:ext cx="4651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0C05C"/>
                </a:solidFill>
                <a:latin typeface="Arial"/>
              </a:rPr>
              <a:t>Collection 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4759" y="3150107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A grid of tiles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4759" y="3534155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Like a photo gallery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TWO PROTOCOLS MAKE A TABLE VIEW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Data source and delegate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891789"/>
            <a:ext cx="10545775" cy="864108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891789"/>
            <a:ext cx="45720" cy="86410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3056382"/>
            <a:ext cx="10088575" cy="864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F3F3F5"/>
                </a:solidFill>
                <a:latin typeface="Menlo"/>
              </a:rPr>
              <a:t>tableView.dataSource = self   // how many rows, what is in each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F3F3F5"/>
                </a:solidFill>
                <a:latin typeface="Menlo"/>
              </a:rPr>
              <a:t>tableView.delegate   = self   // what happens when a row is tapped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975354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0C05C"/>
                </a:solidFill>
                <a:latin typeface="Arial"/>
              </a:rPr>
              <a:t>You assign both in viewDidLoad.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4577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3F3F5"/>
                </a:solidFill>
                <a:latin typeface="Arial"/>
              </a:rPr>
              <a:t>Miss that assignment and the table renders completely empty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343400"/>
            <a:ext cx="1097280" cy="3657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A6A8B0"/>
                </a:solidFill>
                <a:latin typeface="Arial"/>
              </a:rPr>
              <a:t>No crash, no warning, no error. Probably the single most common beginner stumble in UIKit.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ONE MORE DETAIL IN THE CELL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prepareForReuse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624327"/>
            <a:ext cx="10545775" cy="1399032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624327"/>
            <a:ext cx="45720" cy="1399032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788919"/>
            <a:ext cx="10088575" cy="1399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F3F3F5"/>
                </a:solidFill>
                <a:latin typeface="Menlo"/>
              </a:rPr>
              <a:t>override func prepareForReuse() {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F3F3F5"/>
                </a:solidFill>
                <a:latin typeface="Menlo"/>
              </a:rPr>
              <a:t>    super.prepareForReuse()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F3F3F5"/>
                </a:solidFill>
                <a:latin typeface="Menlo"/>
              </a:rPr>
              <a:t>    posterImageView.image = nil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F3F3F5"/>
                </a:solidFill>
                <a:latin typeface="Menlo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242816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0C05C"/>
                </a:solidFill>
                <a:latin typeface="Arial"/>
              </a:rPr>
              <a:t>Cells are recycled as you scroll — clearing on reuse prevents the previous row's image flickering in.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THE WHOLE MODULE, ON SCREEN AT ONCE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The screen is not doing the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431599" y="1440180"/>
            <a:ext cx="1929705" cy="4087367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45315" y="1453895"/>
            <a:ext cx="1902273" cy="4059935"/>
          </a:xfrm>
          <a:prstGeom prst="rect">
            <a:avLst/>
          </a:prstGeom>
          <a:solidFill>
            <a:srgbClr val="1A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2_movies_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2747" y="1481328"/>
            <a:ext cx="1847409" cy="400507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9480177" y="1440180"/>
            <a:ext cx="1929705" cy="4087367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493893" y="1453895"/>
            <a:ext cx="1902273" cy="4059935"/>
          </a:xfrm>
          <a:prstGeom prst="rect">
            <a:avLst/>
          </a:prstGeom>
          <a:solidFill>
            <a:srgbClr val="1A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3_movie_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1325" y="1481328"/>
            <a:ext cx="1847409" cy="4005071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822960" y="1673352"/>
            <a:ext cx="100584" cy="100584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1572768"/>
            <a:ext cx="599141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**Search and sort** ask the view model for a filtered, sorted list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478024"/>
            <a:ext cx="100584" cy="100584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2377440"/>
            <a:ext cx="599141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**Rows are reusable cells** built from stack views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2880360"/>
            <a:ext cx="100584" cy="100584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2779776"/>
            <a:ext cx="599141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**Navigation** pushes the detail screen in code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3282696"/>
            <a:ext cx="100584" cy="100584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3182112"/>
            <a:ext cx="599141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**viewDidLoad** wired it all together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RECAP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UIKit, MVVM, Auto Layout and Table Views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09343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" y="1481328"/>
            <a:ext cx="10234879" cy="8284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UIKit is views, view controllers and an event-driven 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437790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2309774"/>
            <a:ext cx="10234879" cy="8284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MVVM keeps logic in the view model — and testable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266236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" y="3138220"/>
            <a:ext cx="10234879" cy="8284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viewDidLoad runs once; viewWillAppear runs every 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094683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856" y="3966667"/>
            <a:ext cx="10234879" cy="8284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Constraints scale one design across devices; stack views tame them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923129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856" y="4795113"/>
            <a:ext cx="10234879" cy="8284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A table view needs both its data source and its delegate assigned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PRACTICE EXERCISE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Build a two-screen list 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043683"/>
            <a:ext cx="10545775" cy="859536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043683"/>
            <a:ext cx="45720" cy="85953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244851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0C05C"/>
                </a:solidFill>
                <a:latin typeface="Menl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226563"/>
            <a:ext cx="92656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F3F3F5"/>
                </a:solidFill>
                <a:latin typeface="Arial"/>
              </a:rPr>
              <a:t>A table view listing something you care about, driven by a view model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049523"/>
            <a:ext cx="10545775" cy="859536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049523"/>
            <a:ext cx="45720" cy="85953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250691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0C05C"/>
                </a:solidFill>
                <a:latin typeface="Menlo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232403"/>
            <a:ext cx="92656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F3F3F5"/>
                </a:solidFill>
                <a:latin typeface="Arial"/>
              </a:rPr>
              <a:t>Tap a row to push a detail screen — in code, no segues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055363"/>
            <a:ext cx="10545775" cy="859536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4055363"/>
            <a:ext cx="45720" cy="85953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56531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0C05C"/>
                </a:solidFill>
                <a:latin typeface="Menlo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4238243"/>
            <a:ext cx="92656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F3F3F5"/>
                </a:solidFill>
                <a:latin typeface="Arial"/>
              </a:rPr>
              <a:t>Lay the detail screen out with stack views, not individual constraints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4577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3F3F5"/>
                </a:solidFill>
                <a:latin typeface="Arial"/>
              </a:rPr>
              <a:t>Module 3 — Intermediate Swift and Concurrency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343400"/>
            <a:ext cx="1097280" cy="3657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A6A8B0"/>
                </a:solidFill>
                <a:latin typeface="Arial"/>
              </a:rPr>
              <a:t>Closures, collections and concurrency — then how to plan an app before you write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